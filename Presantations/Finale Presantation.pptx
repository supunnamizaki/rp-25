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5" r:id="rId3"/>
    <p:sldId id="270" r:id="rId4"/>
    <p:sldId id="276" r:id="rId5"/>
    <p:sldId id="271" r:id="rId6"/>
    <p:sldId id="277" r:id="rId7"/>
    <p:sldId id="272" r:id="rId8"/>
    <p:sldId id="278" r:id="rId9"/>
    <p:sldId id="281" r:id="rId10"/>
    <p:sldId id="273" r:id="rId11"/>
    <p:sldId id="279" r:id="rId12"/>
    <p:sldId id="274" r:id="rId13"/>
    <p:sldId id="280" r:id="rId14"/>
    <p:sldId id="282" r:id="rId15"/>
    <p:sldId id="28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8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71A2CC-CE17-6D79-0144-67E17EA6AEDE}" v="90" dt="2026-03-10T08:19:32.780"/>
    <p1510:client id="{2DDEF122-3D45-4B5C-D087-B19EE9642D8A}" v="6" dt="2026-03-09T23:27:10.451"/>
    <p1510:client id="{365EA8A6-C0BD-FEF6-0FF1-9A961DE9693E}" v="1152" dt="2026-03-09T17:08:19.801"/>
    <p1510:client id="{9DED58A3-FBC7-E516-4E63-708AB4D0C200}" v="34" dt="2026-03-10T03:54:49.628"/>
    <p1510:client id="{CDA02DBC-FCE1-A9E8-3571-E3C57F4FF12C}" v="9" dt="2026-03-09T17:33:07.444"/>
    <p1510:client id="{D71A92DE-6864-1C42-4231-E7199082FE56}" v="333" dt="2026-03-09T20:40:13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2E9FEB-DBD3-470F-98F8-FB2093EA974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C7618-C930-492A-A8F8-0C3E653FFC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8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lant growing on a shelf&#10;&#10;AI-generated content may be incorrect.">
            <a:extLst>
              <a:ext uri="{FF2B5EF4-FFF2-40B4-BE49-F238E27FC236}">
                <a16:creationId xmlns:a16="http://schemas.microsoft.com/office/drawing/2014/main" id="{26E1DBFE-52D5-8A3E-F6C1-0C93988B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"/>
          <a:stretch>
            <a:fillRect/>
          </a:stretch>
        </p:blipFill>
        <p:spPr>
          <a:xfrm>
            <a:off x="4586997" y="19465"/>
            <a:ext cx="4557001" cy="6857990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350" y="328512"/>
            <a:ext cx="3583791" cy="1628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/>
              <a:t>IT4010 – Progress Presentation 2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972" y="2982206"/>
            <a:ext cx="4049292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000">
                <a:solidFill>
                  <a:schemeClr val="tx1"/>
                </a:solidFill>
              </a:rPr>
              <a:t>25-26J-035</a:t>
            </a: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</a:pPr>
            <a:r>
              <a:rPr lang="en-US" sz="2000" b="1">
                <a:solidFill>
                  <a:schemeClr val="tx1"/>
                </a:solidFill>
              </a:rPr>
              <a:t>An Energy-Efficient Dual Hydroponic System for Organic/Inorganic Capsicum Chili Farming</a:t>
            </a:r>
            <a:endParaRPr lang="en-US" sz="2000" b="1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D007-E8B5-5061-5915-73E2E05B7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073" y="28526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rgbClr val="528F11"/>
                </a:solidFill>
                <a:ea typeface="Calibri"/>
                <a:cs typeface="Calibri"/>
              </a:rPr>
              <a:t>PROBLEM STATEMENT &amp; STAKEHOLDERS</a:t>
            </a:r>
          </a:p>
        </p:txBody>
      </p:sp>
    </p:spTree>
    <p:extLst>
      <p:ext uri="{BB962C8B-B14F-4D97-AF65-F5344CB8AC3E}">
        <p14:creationId xmlns:p14="http://schemas.microsoft.com/office/powerpoint/2010/main" val="276042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CB31-5165-0A61-C22B-203C930B5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rgbClr val="528F11"/>
                </a:solidFill>
                <a:ea typeface="Calibri"/>
                <a:cs typeface="Calibri"/>
              </a:rPr>
              <a:t>PROBLEM STATEMENT &amp; STAKEHOLDERS</a:t>
            </a:r>
            <a:endParaRPr lang="en-US">
              <a:solidFill>
                <a:srgbClr val="528F11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E55E6-DE32-2258-E5D9-2991C3656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468" y="1425102"/>
            <a:ext cx="3170103" cy="10337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Context</a:t>
            </a:r>
            <a:endParaRPr lang="en-US" sz="1600">
              <a:ea typeface="+mn-lt"/>
              <a:cs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>
                <a:ea typeface="+mn-lt"/>
                <a:cs typeface="+mn-lt"/>
              </a:rPr>
              <a:t>Hydroponic capsicum chili farming in Sri Lanka requires efficient monitoring and automation, especially in solar-powered or resource-limited greenhouse environments.</a:t>
            </a:r>
            <a:endParaRPr lang="en-US" sz="1400">
              <a:ea typeface="Calibri"/>
              <a:cs typeface="Calibri"/>
            </a:endParaRPr>
          </a:p>
          <a:p>
            <a:endParaRPr lang="en-US" sz="6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41F5F-4198-1569-6ACD-F8CA4CF52F84}"/>
              </a:ext>
            </a:extLst>
          </p:cNvPr>
          <p:cNvSpPr txBox="1"/>
          <p:nvPr/>
        </p:nvSpPr>
        <p:spPr>
          <a:xfrm>
            <a:off x="341278" y="4320704"/>
            <a:ext cx="3579782" cy="22749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Stakeholders</a:t>
            </a:r>
            <a:endParaRPr lang="en-US" sz="160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Primary users: Hydroponic farmers, greenhouse operators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 Secondary users: Agricultural researchers, smart farming developers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 Decision makers: Agricultural authorities, </a:t>
            </a:r>
            <a:r>
              <a:rPr lang="en-US" sz="1400" err="1">
                <a:ea typeface="+mn-lt"/>
                <a:cs typeface="+mn-lt"/>
              </a:rPr>
              <a:t>agritech</a:t>
            </a:r>
            <a:r>
              <a:rPr lang="en-US" sz="1400">
                <a:ea typeface="+mn-lt"/>
                <a:cs typeface="+mn-lt"/>
              </a:rPr>
              <a:t> companies, investors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EC4AA-0F74-D18F-6A02-265A2C57661D}"/>
              </a:ext>
            </a:extLst>
          </p:cNvPr>
          <p:cNvSpPr txBox="1"/>
          <p:nvPr/>
        </p:nvSpPr>
        <p:spPr>
          <a:xfrm>
            <a:off x="5393785" y="5020486"/>
            <a:ext cx="3881336" cy="16285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Observed Issue</a:t>
            </a:r>
            <a:endParaRPr lang="en-US" sz="16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>
                <a:ea typeface="+mn-lt"/>
                <a:cs typeface="+mn-lt"/>
              </a:rPr>
              <a:t>Existing hydroponic systems are fragmented and energy-intensive, lacking integrated communication, adaptive climate control, and early disease prediction.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4C40D0-9B3A-8831-8295-DB3A21C6A5FA}"/>
              </a:ext>
            </a:extLst>
          </p:cNvPr>
          <p:cNvSpPr txBox="1"/>
          <p:nvPr/>
        </p:nvSpPr>
        <p:spPr>
          <a:xfrm>
            <a:off x="5054531" y="1424900"/>
            <a:ext cx="3735421" cy="1305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Why It Matters</a:t>
            </a:r>
            <a:endParaRPr lang="en-US" sz="1600"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1400">
                <a:ea typeface="+mn-lt"/>
                <a:cs typeface="+mn-lt"/>
              </a:rPr>
              <a:t>These limitations lead to higher energy usage, increased disease risk, reduced crop productivity, and slow adoption of smart hydroponic farming.</a:t>
            </a:r>
            <a:endParaRPr lang="en-US" sz="1400">
              <a:ea typeface="Calibri"/>
              <a:cs typeface="Calibri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C16B9F-F9E0-9E34-3392-D17E88FDB9E3}"/>
              </a:ext>
            </a:extLst>
          </p:cNvPr>
          <p:cNvCxnSpPr/>
          <p:nvPr/>
        </p:nvCxnSpPr>
        <p:spPr>
          <a:xfrm>
            <a:off x="5632326" y="4467307"/>
            <a:ext cx="622569" cy="3599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06D932-4DC3-D9CC-188D-9E5090C8344D}"/>
              </a:ext>
            </a:extLst>
          </p:cNvPr>
          <p:cNvCxnSpPr>
            <a:cxnSpLocks/>
          </p:cNvCxnSpPr>
          <p:nvPr/>
        </p:nvCxnSpPr>
        <p:spPr>
          <a:xfrm flipH="1" flipV="1">
            <a:off x="2663769" y="2872980"/>
            <a:ext cx="632296" cy="3599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5A7A1B-C8B4-FBD4-82AE-868BCD60CFA3}"/>
              </a:ext>
            </a:extLst>
          </p:cNvPr>
          <p:cNvCxnSpPr>
            <a:cxnSpLocks/>
          </p:cNvCxnSpPr>
          <p:nvPr/>
        </p:nvCxnSpPr>
        <p:spPr>
          <a:xfrm flipH="1">
            <a:off x="2623844" y="4215399"/>
            <a:ext cx="700796" cy="2922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EF878-107B-706D-D1FD-2C346F64E8AF}"/>
              </a:ext>
            </a:extLst>
          </p:cNvPr>
          <p:cNvCxnSpPr>
            <a:cxnSpLocks/>
          </p:cNvCxnSpPr>
          <p:nvPr/>
        </p:nvCxnSpPr>
        <p:spPr>
          <a:xfrm flipV="1">
            <a:off x="5532167" y="2880998"/>
            <a:ext cx="632297" cy="233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Diagram of a greenhouse with plants and water&#10;&#10;AI-generated content may be incorrect.">
            <a:extLst>
              <a:ext uri="{FF2B5EF4-FFF2-40B4-BE49-F238E27FC236}">
                <a16:creationId xmlns:a16="http://schemas.microsoft.com/office/drawing/2014/main" id="{03DD05A1-64E3-2831-404F-714524229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40" t="-688" r="8427" b="-407"/>
          <a:stretch>
            <a:fillRect/>
          </a:stretch>
        </p:blipFill>
        <p:spPr>
          <a:xfrm>
            <a:off x="3311743" y="2664522"/>
            <a:ext cx="2330694" cy="2045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11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DF80-35F4-9DF2-53E6-9395B03E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77" y="2539495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RESEARCH GAP &amp; OBJECTIVES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75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90F4-3DA2-40F3-8C6E-E2330DC8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RESEARCH GAP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B6586-7860-E341-EFAE-F7FF86693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0050" y="4411494"/>
            <a:ext cx="5603131" cy="142284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Smart Objectives</a:t>
            </a:r>
            <a:endParaRPr lang="en-US" sz="18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ea typeface="+mn-lt"/>
                <a:cs typeface="+mn-lt"/>
              </a:rPr>
              <a:t>Design an IoT-enabled dual NFT hydroponic system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ea typeface="+mn-lt"/>
                <a:cs typeface="+mn-lt"/>
              </a:rPr>
              <a:t>Integrate smart climate control using sensor data and weather data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ea typeface="+mn-lt"/>
                <a:cs typeface="+mn-lt"/>
              </a:rPr>
              <a:t>Implement energy-efficient communication and cloud monitoring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</a:pPr>
            <a:r>
              <a:rPr lang="en-US" sz="1400">
                <a:ea typeface="+mn-lt"/>
                <a:cs typeface="+mn-lt"/>
              </a:rPr>
              <a:t>Enable early fungal disease prediction for healthy capsicum growth</a:t>
            </a:r>
            <a:endParaRPr lang="en-US" sz="140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b="1">
              <a:ea typeface="+mn-lt"/>
              <a:cs typeface="+mn-lt"/>
            </a:endParaRPr>
          </a:p>
          <a:p>
            <a:endParaRPr lang="en-US" sz="1600">
              <a:latin typeface="Cambria"/>
              <a:ea typeface="Cambria"/>
              <a:cs typeface="+mn-lt"/>
            </a:endParaRPr>
          </a:p>
          <a:p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>
              <a:latin typeface="Cambria"/>
              <a:ea typeface="Cambria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FD095-964E-D662-2D7E-CB5CA8643358}"/>
              </a:ext>
            </a:extLst>
          </p:cNvPr>
          <p:cNvSpPr txBox="1"/>
          <p:nvPr/>
        </p:nvSpPr>
        <p:spPr>
          <a:xfrm>
            <a:off x="460240" y="1575069"/>
            <a:ext cx="5077838" cy="19517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Research Gap</a:t>
            </a:r>
            <a:endParaRPr lang="en-US" b="1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Existing hydroponic systems focus only on basic monitoring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Lack energy-efficient communication for IoT systems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Limited adaptive climate control using real-time data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No early disease prediction mechanisms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Poor integration of organic and inorganic hydroponic systems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10" name="Picture 9" descr="A group of plants in a farm&#10;&#10;AI-generated content may be incorrect.">
            <a:extLst>
              <a:ext uri="{FF2B5EF4-FFF2-40B4-BE49-F238E27FC236}">
                <a16:creationId xmlns:a16="http://schemas.microsoft.com/office/drawing/2014/main" id="{36A64461-6533-E601-FD74-60774C856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039" y="1800833"/>
            <a:ext cx="3210128" cy="1943101"/>
          </a:xfrm>
          <a:prstGeom prst="rect">
            <a:avLst/>
          </a:prstGeom>
        </p:spPr>
      </p:pic>
      <p:pic>
        <p:nvPicPr>
          <p:cNvPr id="8" name="Picture 7" descr="A person using a tablet to spray plants in a greenhouse&#10;&#10;AI-generated content may be incorrect.">
            <a:extLst>
              <a:ext uri="{FF2B5EF4-FFF2-40B4-BE49-F238E27FC236}">
                <a16:creationId xmlns:a16="http://schemas.microsoft.com/office/drawing/2014/main" id="{21960F31-8B0D-7361-BC9D-3CD92023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70" y="4141045"/>
            <a:ext cx="3112447" cy="196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0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7193-7EA3-512A-21C1-F83D5EDD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43878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SOLUTION OVERVIEW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588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59F99-BF29-1367-1E3A-3AD202B3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78543-19D5-F8A2-1534-F3EC5E710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366534"/>
            <a:ext cx="6070059" cy="6932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>
                <a:ea typeface="+mn-lt"/>
                <a:cs typeface="+mn-lt"/>
              </a:rPr>
              <a:t>Solution Summary: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>
                <a:ea typeface="+mn-lt"/>
                <a:cs typeface="+mn-lt"/>
              </a:rPr>
              <a:t>An IoT-enabled energy-efficient dual NFT hydroponic system for capsicum cultivation with smart climate control and cloud monitoring.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08181-766B-559C-AF33-74F84C622572}"/>
              </a:ext>
            </a:extLst>
          </p:cNvPr>
          <p:cNvSpPr txBox="1"/>
          <p:nvPr/>
        </p:nvSpPr>
        <p:spPr>
          <a:xfrm>
            <a:off x="310879" y="2646935"/>
            <a:ext cx="6302509" cy="12438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+mn-lt"/>
                <a:cs typeface="+mn-lt"/>
              </a:rPr>
              <a:t>Key Features Delivered: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FR1: Real-time sensor monitoring (pH, EC, temperature, humidity, water level)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FR2: Automated climate control (fan, mist, ventilation)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FR3: Low-power UDP communication with cloud dashboard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CD30D-7364-D1AF-B830-071B7A3E5620}"/>
              </a:ext>
            </a:extLst>
          </p:cNvPr>
          <p:cNvSpPr txBox="1"/>
          <p:nvPr/>
        </p:nvSpPr>
        <p:spPr>
          <a:xfrm>
            <a:off x="312297" y="4112164"/>
            <a:ext cx="5175114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+mn-lt"/>
                <a:cs typeface="+mn-lt"/>
              </a:rPr>
              <a:t>Non-Functional Focus: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Performance: Efficient sensor data processing and automation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Reliability: Continuous monitoring with communication backup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Usability: Cloud dashboard for real-time monitoring and control</a:t>
            </a:r>
            <a:endParaRPr lang="en-US" sz="14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46BA6-AA2B-43E9-ACB1-FAC3171E1723}"/>
              </a:ext>
            </a:extLst>
          </p:cNvPr>
          <p:cNvSpPr txBox="1"/>
          <p:nvPr/>
        </p:nvSpPr>
        <p:spPr>
          <a:xfrm>
            <a:off x="310069" y="5497950"/>
            <a:ext cx="5359940" cy="7052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ea typeface="+mn-lt"/>
                <a:cs typeface="+mn-lt"/>
              </a:rPr>
              <a:t>Current Completion Status: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~90% system implementation completed and ready for demonstration.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7" name="Picture 6" descr="A plant growing on a shelf&#10;&#10;AI-generated content may be incorrect.">
            <a:extLst>
              <a:ext uri="{FF2B5EF4-FFF2-40B4-BE49-F238E27FC236}">
                <a16:creationId xmlns:a16="http://schemas.microsoft.com/office/drawing/2014/main" id="{707B51DF-3A96-5E49-2E59-4FEC4BC01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21" r="13607" b="139"/>
          <a:stretch>
            <a:fillRect/>
          </a:stretch>
        </p:blipFill>
        <p:spPr>
          <a:xfrm>
            <a:off x="6378304" y="1589864"/>
            <a:ext cx="2682140" cy="478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0678B-8383-252D-39B2-ECFA9FAB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2646"/>
            <a:ext cx="8229600" cy="1143000"/>
          </a:xfrm>
        </p:spPr>
        <p:txBody>
          <a:bodyPr/>
          <a:lstStyle/>
          <a:p>
            <a:r>
              <a:rPr lang="en-US" sz="3600">
                <a:solidFill>
                  <a:srgbClr val="528F11"/>
                </a:solidFill>
                <a:ea typeface="Calibri"/>
                <a:cs typeface="Calibri"/>
              </a:rPr>
              <a:t>SYSTEM ARCHITECTURE &amp; INTEGRATION</a:t>
            </a:r>
            <a:endParaRPr lang="en-US" sz="3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561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BF53-3C79-670B-E940-78D5872A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solidFill>
                  <a:srgbClr val="528F11"/>
                </a:solidFill>
                <a:ea typeface="Calibri"/>
                <a:cs typeface="Calibri"/>
              </a:rPr>
              <a:t>SYSTEM ARCHITECTURE &amp; INTEGRATION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DC4D3-DA97-A279-62B5-B56A166EA73D}"/>
              </a:ext>
            </a:extLst>
          </p:cNvPr>
          <p:cNvSpPr txBox="1"/>
          <p:nvPr/>
        </p:nvSpPr>
        <p:spPr>
          <a:xfrm>
            <a:off x="6276160" y="1712647"/>
            <a:ext cx="241734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Calibri"/>
                <a:ea typeface="Calibri"/>
                <a:cs typeface="Calibri"/>
              </a:rPr>
              <a:t>Label Owners</a:t>
            </a:r>
            <a:endParaRPr lang="en-US"/>
          </a:p>
          <a:p>
            <a:endParaRPr lang="en-US" sz="1400" b="1">
              <a:latin typeface="Calibri"/>
              <a:ea typeface="Arial"/>
              <a:cs typeface="Arial"/>
            </a:endParaRPr>
          </a:p>
          <a:p>
            <a:r>
              <a:rPr lang="en-US" sz="1400" b="1" baseline="0">
                <a:latin typeface="Calibri"/>
                <a:ea typeface="Arial"/>
                <a:cs typeface="Arial"/>
              </a:rPr>
              <a:t>Component A:</a:t>
            </a:r>
            <a:r>
              <a:rPr lang="en-US" sz="1400" baseline="0">
                <a:latin typeface="Calibri"/>
                <a:ea typeface="Arial"/>
                <a:cs typeface="Arial"/>
              </a:rPr>
              <a:t> </a:t>
            </a:r>
            <a:endParaRPr lang="en-US">
              <a:latin typeface="Calibri"/>
              <a:ea typeface="Calibri"/>
              <a:cs typeface="Calibri"/>
            </a:endParaRPr>
          </a:p>
          <a:p>
            <a:pPr lvl="0" indent="-228600">
              <a:buFont typeface=""/>
              <a:buChar char="•"/>
            </a:pPr>
            <a:r>
              <a:rPr lang="en-US" sz="1400" baseline="0">
                <a:latin typeface="Calibri"/>
                <a:ea typeface="Arial"/>
                <a:cs typeface="Arial"/>
              </a:rPr>
              <a:t>Organic NFT Hydroponic System - IT22167682</a:t>
            </a:r>
            <a:r>
              <a:rPr lang="en-US" sz="1400">
                <a:latin typeface="Calibri"/>
                <a:ea typeface="Arial"/>
                <a:cs typeface="Arial"/>
              </a:rPr>
              <a:t>​</a:t>
            </a:r>
            <a:endParaRPr lang="en-US">
              <a:ea typeface="Calibri"/>
              <a:cs typeface="Calibri"/>
            </a:endParaRPr>
          </a:p>
          <a:p>
            <a:pPr indent="-228600">
              <a:buFont typeface=""/>
              <a:buChar char="•"/>
            </a:pPr>
            <a:endParaRPr lang="en-US" sz="1400">
              <a:latin typeface="Calibri"/>
              <a:ea typeface="Arial"/>
              <a:cs typeface="Arial"/>
            </a:endParaRPr>
          </a:p>
          <a:p>
            <a:r>
              <a:rPr lang="en-US" sz="1400" b="1" baseline="0">
                <a:latin typeface="Calibri"/>
                <a:ea typeface="Arial"/>
                <a:cs typeface="Arial"/>
              </a:rPr>
              <a:t>Component B:</a:t>
            </a:r>
            <a:r>
              <a:rPr lang="en-US" sz="1400" baseline="0">
                <a:latin typeface="Calibri"/>
                <a:ea typeface="Arial"/>
                <a:cs typeface="Arial"/>
              </a:rPr>
              <a:t> </a:t>
            </a:r>
            <a:endParaRPr lang="en-US" sz="1400">
              <a:latin typeface="Calibri"/>
              <a:ea typeface="Arial"/>
              <a:cs typeface="Arial"/>
            </a:endParaRPr>
          </a:p>
          <a:p>
            <a:pPr lvl="0" indent="-228600">
              <a:buFont typeface=""/>
              <a:buChar char="•"/>
            </a:pPr>
            <a:r>
              <a:rPr lang="en-US" sz="1400" baseline="0">
                <a:latin typeface="Calibri"/>
                <a:ea typeface="Arial"/>
                <a:cs typeface="Arial"/>
              </a:rPr>
              <a:t>Inorganic NFT Hydroponic System - IT22258762</a:t>
            </a:r>
            <a:r>
              <a:rPr lang="en-US" sz="1400">
                <a:latin typeface="Calibri"/>
                <a:ea typeface="Arial"/>
                <a:cs typeface="Arial"/>
              </a:rPr>
              <a:t>​</a:t>
            </a:r>
            <a:endParaRPr lang="en-US"/>
          </a:p>
          <a:p>
            <a:pPr indent="-228600">
              <a:buFont typeface=""/>
              <a:buChar char="•"/>
            </a:pPr>
            <a:endParaRPr lang="en-US" sz="1400">
              <a:latin typeface="Calibri"/>
              <a:ea typeface="Arial"/>
              <a:cs typeface="Arial"/>
            </a:endParaRPr>
          </a:p>
          <a:p>
            <a:r>
              <a:rPr lang="en-US" sz="1400" b="1" baseline="0">
                <a:latin typeface="Calibri"/>
                <a:ea typeface="Arial"/>
                <a:cs typeface="Arial"/>
              </a:rPr>
              <a:t>Component C:</a:t>
            </a:r>
            <a:r>
              <a:rPr lang="en-US" sz="1400" baseline="0">
                <a:latin typeface="Calibri"/>
                <a:ea typeface="Arial"/>
                <a:cs typeface="Arial"/>
              </a:rPr>
              <a:t> </a:t>
            </a:r>
            <a:endParaRPr lang="en-US" sz="1400">
              <a:latin typeface="Calibri"/>
              <a:ea typeface="Arial"/>
              <a:cs typeface="Arial"/>
            </a:endParaRPr>
          </a:p>
          <a:p>
            <a:pPr lvl="0" indent="-228600">
              <a:buFont typeface=""/>
              <a:buChar char="•"/>
            </a:pPr>
            <a:r>
              <a:rPr lang="en-US" sz="1400" baseline="0">
                <a:latin typeface="Calibri"/>
                <a:ea typeface="Arial"/>
                <a:cs typeface="Arial"/>
              </a:rPr>
              <a:t>IoT Communication System - IT22355782</a:t>
            </a:r>
            <a:r>
              <a:rPr lang="en-US" sz="1400">
                <a:latin typeface="Calibri"/>
                <a:ea typeface="Arial"/>
                <a:cs typeface="Arial"/>
              </a:rPr>
              <a:t>​</a:t>
            </a:r>
            <a:endParaRPr lang="en-US"/>
          </a:p>
          <a:p>
            <a:pPr indent="-228600">
              <a:buFont typeface=""/>
              <a:buChar char="•"/>
            </a:pPr>
            <a:endParaRPr lang="en-US" sz="1400">
              <a:latin typeface="Calibri"/>
              <a:ea typeface="Arial"/>
              <a:cs typeface="Arial"/>
            </a:endParaRPr>
          </a:p>
          <a:p>
            <a:r>
              <a:rPr lang="en-US" sz="1400" b="1" baseline="0">
                <a:latin typeface="Calibri"/>
                <a:ea typeface="Arial"/>
                <a:cs typeface="Arial"/>
              </a:rPr>
              <a:t>Component D:</a:t>
            </a:r>
            <a:r>
              <a:rPr lang="en-US" sz="1400" baseline="0">
                <a:latin typeface="Calibri"/>
                <a:ea typeface="Arial"/>
                <a:cs typeface="Arial"/>
              </a:rPr>
              <a:t> </a:t>
            </a:r>
            <a:endParaRPr lang="en-US" sz="1400">
              <a:latin typeface="Calibri"/>
              <a:ea typeface="Arial"/>
              <a:cs typeface="Arial"/>
            </a:endParaRPr>
          </a:p>
          <a:p>
            <a:pPr lvl="0" indent="-228600">
              <a:buFont typeface=""/>
              <a:buChar char="•"/>
            </a:pPr>
            <a:r>
              <a:rPr lang="en-US" sz="1400" baseline="0">
                <a:latin typeface="Calibri"/>
                <a:ea typeface="Arial"/>
                <a:cs typeface="Arial"/>
              </a:rPr>
              <a:t>Automated Climate Control &amp; Disease Prediction - IT22617996</a:t>
            </a:r>
            <a:r>
              <a:rPr lang="en-US" sz="1400">
                <a:latin typeface="Calibri"/>
                <a:ea typeface="Arial"/>
                <a:cs typeface="Arial"/>
              </a:rPr>
              <a:t>​</a:t>
            </a:r>
            <a:endParaRPr lang="en-US"/>
          </a:p>
        </p:txBody>
      </p:sp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20715D23-E32B-BE2A-C454-A10E2DE9F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0" y="1334504"/>
            <a:ext cx="5620375" cy="52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742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29BE-6BD5-7750-32C0-F54742B9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solidFill>
                  <a:srgbClr val="528F11"/>
                </a:solidFill>
                <a:ea typeface="Calibri"/>
                <a:cs typeface="Calibri"/>
              </a:rPr>
              <a:t>SYSTEM ARCHITECTURE &amp; INTEGRATION</a:t>
            </a:r>
            <a:endParaRPr lang="en-US">
              <a:solidFill>
                <a:srgbClr val="528F1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EB31E0-9F5D-3E36-D2B8-BC8D51A23E13}"/>
              </a:ext>
            </a:extLst>
          </p:cNvPr>
          <p:cNvSpPr txBox="1"/>
          <p:nvPr/>
        </p:nvSpPr>
        <p:spPr>
          <a:xfrm>
            <a:off x="811225" y="1421536"/>
            <a:ext cx="3737006" cy="156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+mn-lt"/>
                <a:cs typeface="+mn-lt"/>
              </a:rPr>
              <a:t>Integration Points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UDP protocol</a:t>
            </a:r>
            <a:r>
              <a:rPr lang="en-US" sz="1400">
                <a:ea typeface="+mn-lt"/>
                <a:cs typeface="+mn-lt"/>
              </a:rPr>
              <a:t> for sensor communication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Firebase API</a:t>
            </a:r>
            <a:r>
              <a:rPr lang="en-US" sz="1400">
                <a:ea typeface="+mn-lt"/>
                <a:cs typeface="+mn-lt"/>
              </a:rPr>
              <a:t> for cloud data storage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Weather API</a:t>
            </a:r>
            <a:r>
              <a:rPr lang="en-US" sz="1400">
                <a:ea typeface="+mn-lt"/>
                <a:cs typeface="+mn-lt"/>
              </a:rPr>
              <a:t> for external weather data</a:t>
            </a:r>
            <a:endParaRPr lang="en-US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JSON data format</a:t>
            </a:r>
            <a:r>
              <a:rPr lang="en-US" sz="1400">
                <a:ea typeface="+mn-lt"/>
                <a:cs typeface="+mn-lt"/>
              </a:rPr>
              <a:t> for sending sensor data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ED9B1-B05A-BC26-2925-D6B637F6C8F7}"/>
              </a:ext>
            </a:extLst>
          </p:cNvPr>
          <p:cNvSpPr txBox="1"/>
          <p:nvPr/>
        </p:nvSpPr>
        <p:spPr>
          <a:xfrm>
            <a:off x="4579208" y="1425791"/>
            <a:ext cx="3414408" cy="15670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+mn-lt"/>
                <a:cs typeface="+mn-lt"/>
              </a:rPr>
              <a:t>Deployment / Runtime Setup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Edge devices:</a:t>
            </a:r>
            <a:r>
              <a:rPr lang="en-US" sz="1400">
                <a:ea typeface="+mn-lt"/>
                <a:cs typeface="+mn-lt"/>
              </a:rPr>
              <a:t> ESP32 in greenhouse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Cloud:</a:t>
            </a:r>
            <a:r>
              <a:rPr lang="en-US" sz="1400">
                <a:ea typeface="+mn-lt"/>
                <a:cs typeface="+mn-lt"/>
              </a:rPr>
              <a:t> Firebase database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Backend:</a:t>
            </a:r>
            <a:r>
              <a:rPr lang="en-US" sz="1400">
                <a:ea typeface="+mn-lt"/>
                <a:cs typeface="+mn-lt"/>
              </a:rPr>
              <a:t> Python Flask server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User interface:</a:t>
            </a:r>
            <a:r>
              <a:rPr lang="en-US" sz="1400">
                <a:ea typeface="+mn-lt"/>
                <a:cs typeface="+mn-lt"/>
              </a:rPr>
              <a:t> Mobile dashboard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8" name="Picture 7" descr="A person using a phone&#10;&#10;AI-generated content may be incorrect.">
            <a:extLst>
              <a:ext uri="{FF2B5EF4-FFF2-40B4-BE49-F238E27FC236}">
                <a16:creationId xmlns:a16="http://schemas.microsoft.com/office/drawing/2014/main" id="{ACCD0C1E-A99F-2DD4-D22B-10B85828B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430" y="3425075"/>
            <a:ext cx="3251257" cy="2757090"/>
          </a:xfrm>
          <a:prstGeom prst="rect">
            <a:avLst/>
          </a:prstGeom>
        </p:spPr>
      </p:pic>
      <p:pic>
        <p:nvPicPr>
          <p:cNvPr id="9" name="Picture 8" descr="Diagram of a diagram of a plant&#10;&#10;AI-generated content may be incorrect.">
            <a:extLst>
              <a:ext uri="{FF2B5EF4-FFF2-40B4-BE49-F238E27FC236}">
                <a16:creationId xmlns:a16="http://schemas.microsoft.com/office/drawing/2014/main" id="{3E4D64BD-2EEB-8898-5440-15F4747D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759" y="3170419"/>
            <a:ext cx="2953758" cy="330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20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89EB-EAFF-99C7-DA1D-E8B46E38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2646"/>
            <a:ext cx="8229600" cy="1143000"/>
          </a:xfrm>
        </p:spPr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COMMERCIALIZATION 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701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6D84-20AD-35CB-A91B-D0E3DCB1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528F11"/>
                </a:solidFill>
                <a:ea typeface="Calibri"/>
                <a:cs typeface="Calibri"/>
              </a:rPr>
              <a:t>COMMERCIALIZATION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224DA-B448-E5D2-B39F-19AD99CFC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757" y="1609927"/>
            <a:ext cx="3229584" cy="6446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>
                <a:ea typeface="+mn-lt"/>
                <a:cs typeface="+mn-lt"/>
              </a:rPr>
              <a:t>Target Users / Market: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>
                <a:ea typeface="+mn-lt"/>
                <a:cs typeface="+mn-lt"/>
              </a:rPr>
              <a:t>Hydroponic farmers, greenhouse operators, and smart agriculture researchers.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2D35B-AE88-172D-2740-DCCE6BB20F2B}"/>
              </a:ext>
            </a:extLst>
          </p:cNvPr>
          <p:cNvSpPr txBox="1"/>
          <p:nvPr/>
        </p:nvSpPr>
        <p:spPr>
          <a:xfrm>
            <a:off x="648308" y="4276928"/>
            <a:ext cx="2743200" cy="19979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ea typeface="+mn-lt"/>
                <a:cs typeface="+mn-lt"/>
              </a:rPr>
              <a:t>Value Proposition: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Provides automated monitoring, energy-efficient operation, and early disease prediction, improving crop productivity compared to traditional hydroponic systems.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9AA2E-C3EA-8390-17BC-197BF7AE1BCF}"/>
              </a:ext>
            </a:extLst>
          </p:cNvPr>
          <p:cNvSpPr txBox="1"/>
          <p:nvPr/>
        </p:nvSpPr>
        <p:spPr>
          <a:xfrm>
            <a:off x="5810655" y="4706768"/>
            <a:ext cx="2743200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ea typeface="+mn-lt"/>
                <a:cs typeface="+mn-lt"/>
              </a:rPr>
              <a:t>Cost and Feasibility: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Prototype cost approximately LKR 55,000 – 65,000, feasible using affordable IoT components.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19A0A-5012-481F-73DE-6ABF9C485789}"/>
              </a:ext>
            </a:extLst>
          </p:cNvPr>
          <p:cNvSpPr txBox="1"/>
          <p:nvPr/>
        </p:nvSpPr>
        <p:spPr>
          <a:xfrm>
            <a:off x="5939952" y="1608915"/>
            <a:ext cx="2743200" cy="167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ea typeface="+mn-lt"/>
                <a:cs typeface="+mn-lt"/>
              </a:rPr>
              <a:t>Adoption Plan / Next Steps: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Pilot testing in greenhouse environments, followed by scaling and deployment for commercial hydroponic farming.</a:t>
            </a:r>
            <a:endParaRPr lang="en-US" sz="140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2A9B5-FC2C-D72C-9C76-9C8D92AC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56" t="28448" r="10514" b="-311"/>
          <a:stretch>
            <a:fillRect/>
          </a:stretch>
        </p:blipFill>
        <p:spPr>
          <a:xfrm>
            <a:off x="2366903" y="2907664"/>
            <a:ext cx="3578369" cy="167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49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CA66-B78F-BBCC-2BBB-C73B7E3E4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2646"/>
            <a:ext cx="8229600" cy="1143000"/>
          </a:xfrm>
        </p:spPr>
        <p:txBody>
          <a:bodyPr/>
          <a:lstStyle/>
          <a:p>
            <a:r>
              <a:rPr lang="en-US" sz="4000">
                <a:solidFill>
                  <a:srgbClr val="528F11"/>
                </a:solidFill>
                <a:ea typeface="Calibri"/>
                <a:cs typeface="Calibri"/>
              </a:rPr>
              <a:t>DEMONSTRATION PLAN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48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0E95-6D78-A440-FDB1-A93664C2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rgbClr val="528F11"/>
                </a:solidFill>
                <a:ea typeface="Calibri"/>
                <a:cs typeface="Calibri"/>
              </a:rPr>
              <a:t>DEMONSTRATION PLAN</a:t>
            </a:r>
            <a:endParaRPr lang="en-US" sz="400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B2E1-307B-956A-1340-9087DA6E4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67" y="1300397"/>
            <a:ext cx="8370134" cy="131244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1600" b="1"/>
              <a:t>Demo Flow </a:t>
            </a:r>
            <a:endParaRPr lang="en-US" sz="1600" b="1">
              <a:ea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b="1">
                <a:ea typeface="+mn-lt"/>
                <a:cs typeface="+mn-lt"/>
              </a:rPr>
              <a:t>Step 1</a:t>
            </a:r>
            <a:r>
              <a:rPr lang="en-US" sz="1400">
                <a:ea typeface="+mn-lt"/>
                <a:cs typeface="+mn-lt"/>
              </a:rPr>
              <a:t>: Show real-time sensor monitoring for Organic and Inorganic NFT systems.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Step 2</a:t>
            </a:r>
            <a:r>
              <a:rPr lang="en-US" sz="1400">
                <a:ea typeface="+mn-lt"/>
                <a:cs typeface="+mn-lt"/>
              </a:rPr>
              <a:t>: Demonstrate low-power UDP network communication .</a:t>
            </a:r>
            <a:br>
              <a:rPr lang="en-US" sz="1400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Step 3</a:t>
            </a:r>
            <a:r>
              <a:rPr lang="en-US" sz="1400">
                <a:ea typeface="+mn-lt"/>
                <a:cs typeface="+mn-lt"/>
              </a:rPr>
              <a:t>: Show AI leaf disease detection and automated climate control using weather and sensor data.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2D3B51-4D71-D04C-E3B3-0869B4BE8ADF}"/>
              </a:ext>
            </a:extLst>
          </p:cNvPr>
          <p:cNvSpPr txBox="1"/>
          <p:nvPr/>
        </p:nvSpPr>
        <p:spPr>
          <a:xfrm>
            <a:off x="317517" y="2836638"/>
            <a:ext cx="4851189" cy="192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Team Demo Roles</a:t>
            </a:r>
            <a:endParaRPr lang="en-US" sz="1600" b="1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lang="en-US" sz="1400" b="1">
                <a:ea typeface="+mn-lt"/>
                <a:cs typeface="+mn-lt"/>
              </a:rPr>
              <a:t>Member 1:</a:t>
            </a:r>
            <a:r>
              <a:rPr lang="en-US" sz="1400">
                <a:ea typeface="+mn-lt"/>
                <a:cs typeface="+mn-lt"/>
              </a:rPr>
              <a:t> Inorganic hydroponic system monitoring.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Member 2:</a:t>
            </a:r>
            <a:r>
              <a:rPr lang="en-US" sz="1400">
                <a:ea typeface="+mn-lt"/>
                <a:cs typeface="+mn-lt"/>
              </a:rPr>
              <a:t> Low-power adaptive network &amp; data transmission.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Member 3:</a:t>
            </a:r>
            <a:r>
              <a:rPr lang="en-US" sz="1400">
                <a:ea typeface="+mn-lt"/>
                <a:cs typeface="+mn-lt"/>
              </a:rPr>
              <a:t> Organic hydroponic system &amp; compost monitoring.</a:t>
            </a:r>
            <a:br>
              <a:rPr lang="en-US" sz="1400">
                <a:ea typeface="+mn-lt"/>
                <a:cs typeface="+mn-lt"/>
              </a:rPr>
            </a:b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b="1">
                <a:ea typeface="+mn-lt"/>
                <a:cs typeface="+mn-lt"/>
              </a:rPr>
              <a:t>Member 4:</a:t>
            </a:r>
            <a:r>
              <a:rPr lang="en-US" sz="1400">
                <a:ea typeface="+mn-lt"/>
                <a:cs typeface="+mn-lt"/>
              </a:rPr>
              <a:t> Climate control, disease prediction &amp; AI leaf detection.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B88E9-2401-D0AA-DD00-C5AE0B1FA790}"/>
              </a:ext>
            </a:extLst>
          </p:cNvPr>
          <p:cNvSpPr txBox="1"/>
          <p:nvPr/>
        </p:nvSpPr>
        <p:spPr>
          <a:xfrm>
            <a:off x="315332" y="4922713"/>
            <a:ext cx="351144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Key Features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Organic and Inorganic systems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 Low-power IoT communication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400">
                <a:ea typeface="+mn-lt"/>
                <a:cs typeface="+mn-lt"/>
              </a:rPr>
              <a:t> AI disease detection &amp; automated climate control</a:t>
            </a:r>
            <a:endParaRPr lang="en-US" sz="1400">
              <a:ea typeface="Calibri"/>
              <a:cs typeface="Calibr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pic>
        <p:nvPicPr>
          <p:cNvPr id="6" name="Picture 5" descr="A group of people sitting in chairs and a person standing in front of a white board&#10;&#10;AI-generated content may be incorrect.">
            <a:extLst>
              <a:ext uri="{FF2B5EF4-FFF2-40B4-BE49-F238E27FC236}">
                <a16:creationId xmlns:a16="http://schemas.microsoft.com/office/drawing/2014/main" id="{8FE4B589-4639-5BB7-C4BC-3E816C52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8" t="7602" r="7172" b="10749"/>
          <a:stretch>
            <a:fillRect/>
          </a:stretch>
        </p:blipFill>
        <p:spPr>
          <a:xfrm>
            <a:off x="4571999" y="4207645"/>
            <a:ext cx="4432554" cy="233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44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3391-AF52-3502-8916-8A8C29041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52737"/>
            <a:ext cx="8229600" cy="965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5400" b="1">
                <a:solidFill>
                  <a:srgbClr val="528F11"/>
                </a:solidFill>
                <a:ea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268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Cambria</vt:lpstr>
      <vt:lpstr>Office Theme</vt:lpstr>
      <vt:lpstr>IT4010 – Progress Presentation 2 </vt:lpstr>
      <vt:lpstr>PROBLEM STATEMENT &amp; STAKEHOLDERS</vt:lpstr>
      <vt:lpstr>PROBLEM STATEMENT &amp; STAKEHOLDERS</vt:lpstr>
      <vt:lpstr>RESEARCH GAP &amp; OBJECTIVES</vt:lpstr>
      <vt:lpstr>RESEARCH GAP &amp; OBJECTIVES</vt:lpstr>
      <vt:lpstr>SOLUTION OVERVIEW</vt:lpstr>
      <vt:lpstr>SOLUTION OVERVIEW</vt:lpstr>
      <vt:lpstr>SYSTEM ARCHITECTURE &amp; INTEGRATION</vt:lpstr>
      <vt:lpstr>SYSTEM ARCHITECTURE &amp; INTEGRATION</vt:lpstr>
      <vt:lpstr>SYSTEM ARCHITECTURE &amp; INTEGRATION</vt:lpstr>
      <vt:lpstr>COMMERCIALIZATION </vt:lpstr>
      <vt:lpstr>COMMERCIALIZATION</vt:lpstr>
      <vt:lpstr>DEMONSTRATION PLAN</vt:lpstr>
      <vt:lpstr>DEMONSTRATION PLAN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Supun Weerasekara</dc:creator>
  <cp:keywords/>
  <dc:description>generated using python-pptx</dc:description>
  <cp:lastModifiedBy>WEERASEKARA P.A.S.S it22258762</cp:lastModifiedBy>
  <cp:revision>2</cp:revision>
  <dcterms:created xsi:type="dcterms:W3CDTF">2013-01-27T09:14:16Z</dcterms:created>
  <dcterms:modified xsi:type="dcterms:W3CDTF">2026-04-25T11:45:47Z</dcterms:modified>
  <cp:category/>
</cp:coreProperties>
</file>