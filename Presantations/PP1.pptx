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77" r:id="rId5"/>
    <p:sldId id="270" r:id="rId6"/>
    <p:sldId id="292" r:id="rId7"/>
    <p:sldId id="293" r:id="rId8"/>
    <p:sldId id="294" r:id="rId9"/>
    <p:sldId id="297" r:id="rId10"/>
    <p:sldId id="298" r:id="rId11"/>
    <p:sldId id="329" r:id="rId12"/>
    <p:sldId id="312" r:id="rId13"/>
    <p:sldId id="286" r:id="rId14"/>
    <p:sldId id="285" r:id="rId15"/>
    <p:sldId id="324" r:id="rId16"/>
    <p:sldId id="325" r:id="rId17"/>
    <p:sldId id="327" r:id="rId18"/>
    <p:sldId id="305" r:id="rId19"/>
    <p:sldId id="323" r:id="rId20"/>
    <p:sldId id="310" r:id="rId21"/>
    <p:sldId id="318" r:id="rId22"/>
    <p:sldId id="319" r:id="rId23"/>
    <p:sldId id="320" r:id="rId24"/>
    <p:sldId id="317" r:id="rId25"/>
    <p:sldId id="31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9DD009-8513-FA97-8E1C-45B2BEEEC9E5}" v="15" dt="2026-01-06T02:41:59.212"/>
    <p1510:client id="{01ABB069-B996-A64A-9584-A0C3F9DB8485}" v="523" dt="2026-01-05T18:46:01.328"/>
    <p1510:client id="{300629A4-79BD-A314-0896-7BDE872428C2}" v="224" dt="2026-01-05T17:48:54.091"/>
    <p1510:client id="{385D95BB-B0D3-13C7-8CB0-AB61E89D5CD5}" v="3" dt="2026-01-06T01:22:23.933"/>
    <p1510:client id="{6B2144D2-D545-EDC6-BBF5-43C5BA048D2F}" v="68" dt="2026-01-06T01:17:31.647"/>
    <p1510:client id="{6CD560D9-7626-FCFC-FB01-136AEB67D656}" v="28" dt="2026-01-05T17:10:29.314"/>
    <p1510:client id="{878CFA78-5393-3B85-02AF-0C6DA42E0190}" v="118" dt="2026-01-05T18:05:15.517"/>
    <p1510:client id="{9B93F9F1-E53B-4147-AB8B-FF1DEF309125}" v="392" dt="2026-01-05T18:06:24.442"/>
    <p1510:client id="{A7DD1254-C3C3-E619-F904-9D2C7ED9DCFB}" v="10" dt="2026-01-05T16:55:26.447"/>
    <p1510:client id="{ABEBEFFA-378F-2C48-80DB-4E791AE5AB1D}" v="339" dt="2026-01-05T21:14:25.484"/>
    <p1510:client id="{B71C7F10-E990-DF77-40C7-2B050F81BCBE}" v="50" dt="2026-01-06T02:02:48.105"/>
    <p1510:client id="{DA686028-839E-A763-CC6A-04F633EE0511}" v="205" dt="2026-01-05T21:48:30.581"/>
    <p1510:client id="{E3011C06-ADAC-D7FA-F4A5-813364AB14E5}" v="11" dt="2026-01-05T16:58:33.8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2:42:36.7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10225 14610 16383 0 0,'-5'0'0'0'0,"-11"0"0"0"0,-9 0 0 0 0,-9 0 0 0 0,6 0 0 0 0,13 0 0 0 0,18 0 0 0 0,14 0 0 0 0,9 0 0 0 0,10 0 0 0 0,4 0 0 0 0,5 0 0 0 0,-1 0 0 0 0,-2 0 0 0 0,1 0 0 0 0,-1 0 0 0 0,1 0 0 0 0,-1 0 0 0 0,2 0 0 0 0,-2 0 0 0 0,-2 0 0 0 0,1 0 0 0 0,-2 0 0 0 0,4 0 0 0 0,-2 0 0 0 0,2 0 0 0 0,0 0 0 0 0,-4 0 0 0 0,2 0 0 0 0,-1 0 0 0 0,2 0 0 0 0,0 0 0 0 0,-4 0 0 0 0,3 0 0 0 0,-1 0 0 0 0,2 0 0 0 0,-1 0 0 0 0,3 0 0 0 0,-2 0 0 0 0,-7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2:42:36.7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10001 14827 16383 0 0,'5'0'0'0'0,"2"-5"0"0"0,4-1 0 0 0,10 0 0 0 0,2-9 0 0 0,2-2 0 0 0,6 2 0 0 0,3 4 0 0 0,-4-2 0 0 0,-2 2 0 0 0,3 3 0 0 0,2 2 0 0 0,5 3 0 0 0,1 1 0 0 0,-6-8 0 0 0,-3-3 0 0 0,2 1 0 0 0,1 2 0 0 0,5 4 0 0 0,1 2 0 0 0,3 2 0 0 0,0 1 0 0 0,-3 1 0 0 0,3 0 0 0 0,-2 1 0 0 0,3-1 0 0 0,-1 1 0 0 0,1-1 0 0 0,0 0 0 0 0,-4 0 0 0 0,2 0 0 0 0,-1 0 0 0 0,3 0 0 0 0,-2 0 0 0 0,-2 0 0 0 0,1 0 0 0 0,-10 0 0 0 0,-16 0 0 0 0,-14 0 0 0 0,-18 0 0 0 0,-11 0 0 0 0,-9 0 0 0 0,-5 0 0 0 0,2 0 0 0 0,-4 0 0 0 0,2 0 0 0 0,-1 0 0 0 0,1 0 0 0 0,-2 0 0 0 0,2 0 0 0 0,3 0 0 0 0,-1 0 0 0 0,1 0 0 0 0,-2 0 0 0 0,1 0 0 0 0,-2 0 0 0 0,0 0 0 0 0,4 0 0 0 0,-2 0 0 0 0,1 0 0 0 0,8 5 0 0 0,18 2 0 0 0,17-1 0 0 0,14-1 0 0 0,12-1 0 0 0,7-2 0 0 0,8-1 0 0 0,0 0 0 0 0,3-1 0 0 0,-1-1 0 0 0,-4 1 0 0 0,0 0 0 0 0,-1 0 0 0 0,-8 4 0 0 0,1 3 0 0 0,-2-1 0 0 0,5-1 0 0 0,0-1 0 0 0,0-2 0 0 0,2-1 0 0 0,0 0 0 0 0,4-1 0 0 0,-2-1 0 0 0,-1 1 0 0 0,1 0 0 0 0,-1 0 0 0 0,2-1 0 0 0,0 1 0 0 0,1 0 0 0 0,-5 10 0 0 0,-5 3 0 0 0,-3 0 0 0 0,3-3 0 0 0,1-3 0 0 0,5-3 0 0 0,0-1 0 0 0,4-2 0 0 0,-1-1 0 0 0,-3-1 0 0 0,3 1 0 0 0,-2-1 0 0 0,3 1 0 0 0,-1 0 0 0 0,1-1 0 0 0,0 1 0 0 0,-4 0 0 0 0,2 0 0 0 0,-1 0 0 0 0,-7 5 0 0 0,0 2 0 0 0,-1-1 0 0 0,0-1 0 0 0,4-1 0 0 0,1-2 0 0 0,4-1 0 0 0,0 0 0 0 0,2-1 0 0 0,0-1 0 0 0,-3 1 0 0 0,1 0 0 0 0,0 0 0 0 0,1-1 0 0 0,0 1 0 0 0,1 0 0 0 0,0 0 0 0 0,-4 0 0 0 0,2 0 0 0 0,-1 5 0 0 0,2 2 0 0 0,0-1 0 0 0,-4-1 0 0 0,3-1 0 0 0,-1-2 0 0 0,2-1 0 0 0,-1 0 0 0 0,3-1 0 0 0,-2-1 0 0 0,-2 1 0 0 0,1 0 0 0 0,-1 0 0 0 0,2-1 0 0 0,0 1 0 0 0,1 0 0 0 0,-1 0 0 0 0,-2 0 0 0 0,1 0 0 0 0,-1 0 0 0 0,2 0 0 0 0,-1 0 0 0 0,3 0 0 0 0,-2 0 0 0 0,-2 0 0 0 0,1 0 0 0 0,-1 0 0 0 0,2 0 0 0 0,-1 0 0 0 0,-2 0 0 0 0,2 0 0 0 0,-2 0 0 0 0,4 0 0 0 0,-2 0 0 0 0,3 0 0 0 0,-2 0 0 0 0,-2 0 0 0 0,1 0 0 0 0,-1 0 0 0 0,2 0 0 0 0,-1 0 0 0 0,3 0 0 0 0,-2 0 0 0 0,-2 0 0 0 0,1 0 0 0 0,-1 0 0 0 0,2 0 0 0 0,-1 0 0 0 0,-2 0 0 0 0,2 0 0 0 0,-2 0 0 0 0,4 0 0 0 0,-2 0 0 0 0,3 0 0 0 0,-2 0 0 0 0,-2 0 0 0 0,1 0 0 0 0,-1 0 0 0 0,2 0 0 0 0,-1 0 0 0 0,3 0 0 0 0,-2 0 0 0 0,-2 0 0 0 0,1 0 0 0 0,-1 0 0 0 0,2 0 0 0 0,-1 0 0 0 0,3 0 0 0 0,-2 0 0 0 0,-2 0 0 0 0,1 0 0 0 0,-2 0 0 0 0,4 0 0 0 0,-7-5 0 0 0,-4-1 0 0 0,-2 0 0 0 0,3 0 0 0 0,1 3 0 0 0,5 1 0 0 0,0 0 0 0 0,4 2 0 0 0,-1 0 0 0 0,-2 0 0 0 0,1 0 0 0 0,0 1 0 0 0,1-1 0 0 0,0 0 0 0 0,2 0 0 0 0,-2 0 0 0 0,-3 0 0 0 0,3 0 0 0 0,-3 0 0 0 0,4 0 0 0 0,-2 0 0 0 0,-2 0 0 0 0,1 0 0 0 0,0 0 0 0 0,2 0 0 0 0,0 0 0 0 0,1 0 0 0 0,0 0 0 0 0,-4 0 0 0 0,2 0 0 0 0,-1 0 0 0 0,3 0 0 0 0,-2 0 0 0 0,3 0 0 0 0,-2 0 0 0 0,-3 0 0 0 0,2 0 0 0 0,-1 0 0 0 0,3 0 0 0 0,-2 0 0 0 0,3 0 0 0 0,-2 0 0 0 0,-3 0 0 0 0,2 0 0 0 0,-1 0 0 0 0,3 0 0 0 0,-2 0 0 0 0,-2 0 0 0 0,1 0 0 0 0,0 0 0 0 0,2 0 0 0 0,0 0 0 0 0,1 0 0 0 0,0 0 0 0 0,-4 0 0 0 0,2 0 0 0 0,-1 0 0 0 0,2 0 0 0 0,0 0 0 0 0,1 0 0 0 0,0 0 0 0 0,-4 0 0 0 0,2 0 0 0 0,-1 0 0 0 0,2 0 0 0 0,0 0 0 0 0,-4 0 0 0 0,3 0 0 0 0,-1 0 0 0 0,2 0 0 0 0,-1 0 0 0 0,3 0 0 0 0,-2 0 0 0 0,-2 0 0 0 0,1 0 0 0 0,-1 0 0 0 0,2 0 0 0 0,0 0 0 0 0,1 0 0 0 0,0 0 0 0 0,-4 0 0 0 0,2 0 0 0 0,-1 0 0 0 0,2 0 0 0 0,0 0 0 0 0,1 0 0 0 0,0 0 0 0 0,-4 0 0 0 0,2 0 0 0 0,-1 0 0 0 0,2 0 0 0 0,0 0 0 0 0,-4 0 0 0 0,3 0 0 0 0,-1 0 0 0 0,2 0 0 0 0,-1 0 0 0 0,3 0 0 0 0,-2 0 0 0 0,-2 0 0 0 0,1 0 0 0 0,-1 0 0 0 0,2 0 0 0 0,-1 0 0 0 0,3 0 0 0 0,-2 0 0 0 0,-2 0 0 0 0,1 0 0 0 0,-1 0 0 0 0,2 0 0 0 0,-1 0 0 0 0,-2 0 0 0 0,2 0 0 0 0,-2 0 0 0 0,4 0 0 0 0,-2 0 0 0 0,3 0 0 0 0,-2 0 0 0 0,-2 0 0 0 0,1 0 0 0 0,-1 0 0 0 0,2 0 0 0 0,-1 0 0 0 0,3 0 0 0 0,-2 0 0 0 0,-2 0 0 0 0,1 0 0 0 0,-1 0 0 0 0,2 0 0 0 0,-1 0 0 0 0,3 0 0 0 0,-2 0 0 0 0,-2 0 0 0 0,1 0 0 0 0,-1 0 0 0 0,2 0 0 0 0,-1 0 0 0 0,-2 0 0 0 0,2 0 0 0 0,-2 0 0 0 0,4 0 0 0 0,-2 0 0 0 0,3 0 0 0 0,-2 0 0 0 0,-3 0 0 0 0,3 0 0 0 0,-3 0 0 0 0,4 0 0 0 0,-2 0 0 0 0,3 0 0 0 0,-2 0 0 0 0,-7 5 0 0 0,-6 2 0 0 0,3-1 0 0 0,1-1 0 0 0,4-1 0 0 0,1-2 0 0 0,0-1 0 0 0,2 0 0 0 0,-1-1 0 0 0,4-1 0 0 0,-1 1 0 0 0,2 0 0 0 0,-1 0 0 0 0,-4-1 0 0 0,2 1 0 0 0,-1 0 0 0 0,3 0 0 0 0,-2 0 0 0 0,3 0 0 0 0,-2 0 0 0 0,-3 0 0 0 0,2 0 0 0 0,-1 0 0 0 0,3 0 0 0 0,-2 0 0 0 0,3 0 0 0 0,-2 0 0 0 0,-3 0 0 0 0,2 0 0 0 0,-1 0 0 0 0,3 0 0 0 0,-2 0 0 0 0,-2 0 0 0 0,1 0 0 0 0,0 0 0 0 0,2 0 0 0 0,0 0 0 0 0,1 0 0 0 0,0 0 0 0 0,-4 0 0 0 0,2 0 0 0 0,-1 0 0 0 0,3 0 0 0 0,-2 0 0 0 0,3 0 0 0 0,-2 0 0 0 0,-3 0 0 0 0,-8 10 0 0 0,1 3 0 0 0,0 0 0 0 0,3-3 0 0 0,2-3 0 0 0,-1-3 0 0 0,4-1 0 0 0,-1-2 0 0 0,3-1 0 0 0,0-1 0 0 0,2 1 0 0 0,-1-1 0 0 0,-3 1 0 0 0,1 0 0 0 0,-1-1 0 0 0,3 1 0 0 0,-2 0 0 0 0,2 0 0 0 0,0 0 0 0 0,-4 0 0 0 0,2 0 0 0 0,-1 0 0 0 0,2 0 0 0 0,0 0 0 0 0,1 0 0 0 0,0 0 0 0 0,-4 0 0 0 0,2 0 0 0 0,-1 0 0 0 0,2 0 0 0 0,0 0 0 0 0,-4 0 0 0 0,3 0 0 0 0,-1 0 0 0 0,2 0 0 0 0,-1 0 0 0 0,3 0 0 0 0,-2 0 0 0 0,-2 0 0 0 0,1 0 0 0 0,-1 0 0 0 0,-8 5 0 0 0,-8 2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2:42:36.7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22746 14716 16383 0 0,'-5'0'0'0'0,"-11"0"0"0"0,-9 0 0 0 0,-9 0 0 0 0,-3 0 0 0 0,-7 0 0 0 0,1 0 0 0 0,1 0 0 0 0,-1 0 0 0 0,2 0 0 0 0,-2 0 0 0 0,1 0 0 0 0,-2 0 0 0 0,1 0 0 0 0,4 0 0 0 0,-2 0 0 0 0,1 0 0 0 0,-2 0 0 0 0,0 0 0 0 0,4 0 0 0 0,-3 0 0 0 0,1 0 0 0 0,-2 0 0 0 0,1 0 0 0 0,-3 0 0 0 0,2 0 0 0 0,2 0 0 0 0,-1 0 0 0 0,1 0 0 0 0,-2 0 0 0 0,0 0 0 0 0,-1 0 0 0 0,1 0 0 0 0,2 0 0 0 0,-1 0 0 0 0,1 0 0 0 0,-2 0 0 0 0,5-5 0 0 0,5-2 0 0 0,-2 1 0 0 0,-1 1 0 0 0,1 1 0 0 0,-3 2 0 0 0,-1 1 0 0 0,-3 0 0 0 0,-1 1 0 0 0,3 1 0 0 0,-2-1 0 0 0,1 0 0 0 0,-2 0 0 0 0,0 0 0 0 0,-2 1 0 0 0,2-1 0 0 0,2 0 0 0 0,-1 0 0 0 0,1 0 0 0 0,-2-10 0 0 0,1-3 0 0 0,-3 0 0 0 0,2 3 0 0 0,2 3 0 0 0,-1 2 0 0 0,1 3 0 0 0,-2 1 0 0 0,1 1 0 0 0,2 0 0 0 0,-2 1 0 0 0,7-5 0 0 0,3-2 0 0 0,-3 0 0 0 0,0 1 0 0 0,-4 1 0 0 0,-1 2 0 0 0,1 1 0 0 0,-2 0 0 0 0,0 1 0 0 0,-2 1 0 0 0,5-6 0 0 0,4-1 0 0 0,-1 0 0 0 0,-1 1 0 0 0,1 1 0 0 0,-4 2 0 0 0,0 1 0 0 0,-3 0 0 0 0,0 1 0 0 0,-3 1 0 0 0,1-1 0 0 0,3 0 0 0 0,9-10 0 0 0,-1-2 0 0 0,0-1 0 0 0,-4 3 0 0 0,-1 3 0 0 0,1 2 0 0 0,-3 3 0 0 0,0 1 0 0 0,-4 1 0 0 0,2 1 0 0 0,-4-1 0 0 0,3 1 0 0 0,2-1 0 0 0,9-5 0 0 0,-1-1 0 0 0,0 0 0 0 0,-4 1 0 0 0,-1 1 0 0 0,-4 2 0 0 0,0 1 0 0 0,17 0 0 0 0,17 1 0 0 0,20 1 0 0 0,13-1 0 0 0,11 0 0 0 0,5 0 0 0 0,0 1 0 0 0,3-1 0 0 0,-2 0 0 0 0,2 0 0 0 0,-1 0 0 0 0,1 0 0 0 0,-2 0 0 0 0,-3 0 0 0 0,1 0 0 0 0,-2 0 0 0 0,4 0 0 0 0,-2 0 0 0 0,-3 0 0 0 0,3 0 0 0 0,-1 0 0 0 0,2 0 0 0 0,-1 0 0 0 0,-7 9 0 0 0,0 5 0 0 0,0-2 0 0 0,-2-2 0 0 0,4-3 0 0 0,1 3 0 0 0,4-1 0 0 0,0-2 0 0 0,2-2 0 0 0,0-2 0 0 0,-8 4 0 0 0,-5 0 0 0 0,2-1 0 0 0,1-1 0 0 0,4-2 0 0 0,2-1 0 0 0,-7 9 0 0 0,1 2 0 0 0,1-1 0 0 0,-1-2 0 0 0,3 2 0 0 0,1-1 0 0 0,4-3 0 0 0,0-2 0 0 0,-7 7 0 0 0,-4 2 0 0 0,2-2 0 0 0,-4 2 0 0 0,-2-1 0 0 0,-5 6 0 0 0,-6 5 0 0 0,-6 3 0 0 0,-15-3 0 0 0,-10-6 0 0 0,-3 3 0 0 0,-3-1 0 0 0,-8-5 0 0 0,-4-4 0 0 0,5-1 0 0 0,-4-1 0 0 0,0-2 0 0 0,0-3 0 0 0,-4-3 0 0 0,-1 0 0 0 0,-4-2 0 0 0,1 0 0 0 0,-3-1 0 0 0,1 1 0 0 0,3-1 0 0 0,-1 1 0 0 0,1 0 0 0 0,-3 0 0 0 0,2-1 0 0 0,17 1 0 0 0,18 0 0 0 0,19 0 0 0 0,13 1 0 0 0,7-1 0 0 0,7 0 0 0 0,3 0 0 0 0,3 0 0 0 0,-1-10 0 0 0,1-3 0 0 0,-1 0 0 0 0,-5 3 0 0 0,2 3 0 0 0,-2 2 0 0 0,3 3 0 0 0,-2 1 0 0 0,-3 1 0 0 0,3 0 0 0 0,-1 1 0 0 0,2 0 0 0 0,-1-1 0 0 0,3 0 0 0 0,-2 1 0 0 0,-3-1 0 0 0,3 0 0 0 0,-2 0 0 0 0,2 0 0 0 0,9 0 0 0 0,1 0 0 0 0,1 0 0 0 0,-3 0 0 0 0,-6 0 0 0 0,1 0 0 0 0,-4 0 0 0 0,7 0 0 0 0,5 0 0 0 0,-2 0 0 0 0,0 0 0 0 0,-3 0 0 0 0,-5 0 0 0 0,0 0 0 0 0,7 0 0 0 0,1 4 0 0 0,1 3 0 0 0,-4-1 0 0 0,1-1 0 0 0,-4-1 0 0 0,-4-2 0 0 0,1-1 0 0 0,-3 0 0 0 0,8-1 0 0 0,6 0 0 0 0,-2-1 0 0 0,-5 1 0 0 0,1 0 0 0 0,-4 0 0 0 0,1 0 0 0 0,-1 0 0 0 0,0 4 0 0 0,9 3 0 0 0,0-1 0 0 0,-3-1 0 0 0,-1-1 0 0 0,-4-2 0 0 0,2-1 0 0 0,-4 0 0 0 0,2-1 0 0 0,-1 0 0 0 0,6-1 0 0 0,-1 1 0 0 0,3 0 0 0 0,-4 10 0 0 0,1 3 0 0 0,-3-1 0 0 0,1-2 0 0 0,-3-3 0 0 0,-4-2 0 0 0,7-3 0 0 0,5-1 0 0 0,-1-1 0 0 0,0 0 0 0 0,-2-1 0 0 0,-1 1 0 0 0,-2-1 0 0 0,-5 6 0 0 0,1 1 0 0 0,9 0 0 0 0,0-1 0 0 0,2-1 0 0 0,-4-2 0 0 0,1-1 0 0 0,-3 0 0 0 0,-5-1 0 0 0,5 0 0 0 0,5-1 0 0 0,-1 1 0 0 0,1 0 0 0 0,-4 0 0 0 0,-5 0 0 0 0,1 0 0 0 0,-2-1 0 0 0,1 11 0 0 0,-1 3 0 0 0,2 0 0 0 0,-1-3 0 0 0,-3-3 0 0 0,2-2 0 0 0,-1-3 0 0 0,2-1 0 0 0,0-1 0 0 0,1 0 0 0 0,0-1 0 0 0,-4 1 0 0 0,2-1 0 0 0,-1 1 0 0 0,2 0 0 0 0,0-1 0 0 0,-9 6 0 0 0,1 2 0 0 0,0-1 0 0 0,-2-1 0 0 0,4-1 0 0 0,1-2 0 0 0,4-1 0 0 0,0 0 0 0 0,-3-1 0 0 0,3 0 0 0 0,0-1 0 0 0,1 1 0 0 0,0 0 0 0 0,2 0 0 0 0,-2 0 0 0 0,-2-1 0 0 0,1 1 0 0 0,-1 0 0 0 0,2 0 0 0 0,-10 0 0 0 0,-17 0 0 0 0,-9 1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2:42:36.7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24283 14681 16383 0 0,'-9'0'0'0'0,"-10"0"0"0"0,-9 0 0 0 0,-7 0 0 0 0,-1 0 0 0 0,-5 0 0 0 0,0 0 0 0 0,-3 0 0 0 0,1 0 0 0 0,-2 0 0 0 0,1 0 0 0 0,4 0 0 0 0,-1 0 0 0 0,1 0 0 0 0,-2 0 0 0 0,0 0 0 0 0,4 0 0 0 0,-3 0 0 0 0,1 0 0 0 0,-2 0 0 0 0,1 0 0 0 0,-3 0 0 0 0,2 0 0 0 0,2 0 0 0 0,-1 0 0 0 0,1 0 0 0 0,-2 0 0 0 0,1 0 0 0 0,-3 0 0 0 0,2 0 0 0 0,2 0 0 0 0,-1 0 0 0 0,1 0 0 0 0,-2 0 0 0 0,1 0 0 0 0,2 0 0 0 0,-2 0 0 0 0,2 0 0 0 0,-4 0 0 0 0,2 0 0 0 0,-3 0 0 0 0,2 0 0 0 0,3 0 0 0 0,-3 0 0 0 0,3 0 0 0 0,-4 0 0 0 0,2 0 0 0 0,7-10 0 0 0,-5-3 0 0 0,-6 1 0 0 0,0 2 0 0 0,2 2 0 0 0,0 4 0 0 0,-9 2 0 0 0,0 1 0 0 0,-1 1 0 0 0,3-5 0 0 0,1-1 0 0 0,4 0 0 0 0,4 2 0 0 0,-1 0 0 0 0,2 2 0 0 0,-1 1 0 0 0,0 1 0 0 0,-2 0 0 0 0,6-10 0 0 0,4-3 0 0 0,3 1 0 0 0,-3 2 0 0 0,-1 3 0 0 0,-5 3 0 0 0,0 2 0 0 0,1 1 0 0 0,-2 1 0 0 0,5-5 0 0 0,3-1 0 0 0,-2 0 0 0 0,0 2 0 0 0,-5 1 0 0 0,0 0 0 0 0,2 2 0 0 0,-4 1 0 0 0,1 0 0 0 0,-2 0 0 0 0,0 0 0 0 0,18 1 0 0 0,17-1 0 0 0,21 0 0 0 0,12 0 0 0 0,6 0 0 0 0,9 0 0 0 0,1 0 0 0 0,4 0 0 0 0,-1 0 0 0 0,1 0 0 0 0,-1 0 0 0 0,-9 10 0 0 0,-6 3 0 0 0,2 0 0 0 0,1-3 0 0 0,4-3 0 0 0,1-3 0 0 0,-1-1 0 0 0,3-2 0 0 0,0-1 0 0 0,2-1 0 0 0,0 6 0 0 0,2 1 0 0 0,-1-1 0 0 0,-3 0 0 0 0,1-2 0 0 0,-1 0 0 0 0,2-2 0 0 0,-5 9 0 0 0,-5 3 0 0 0,2 0 0 0 0,1-4 0 0 0,-1-2 0 0 0,3-2 0 0 0,1-3 0 0 0,3 4 0 0 0,1 0 0 0 0,2 0 0 0 0,-2-2 0 0 0,-2-1 0 0 0,1-1 0 0 0,0-1 0 0 0,-9 4 0 0 0,1 2 0 0 0,0-1 0 0 0,-1-1 0 0 0,4-2 0 0 0,1-1 0 0 0,4-1 0 0 0,-1-1 0 0 0,4 0 0 0 0,-6 10 0 0 0,-5 3 0 0 0,-3-1 0 0 0,4-2 0 0 0,0-3 0 0 0,5-3 0 0 0,1-1 0 0 0,2-2 0 0 0,1-1 0 0 0,-4-1 0 0 0,3 1 0 0 0,-2-1 0 0 0,3 1 0 0 0,-2-1 0 0 0,-2 1 0 0 0,2 0 0 0 0,-6 5 0 0 0,-5 1 0 0 0,4 1 0 0 0,0-2 0 0 0,4-2 0 0 0,1 0 0 0 0,-6 8 0 0 0,-4 2 0 0 0,2 0 0 0 0,-2 2 0 0 0,-3-2 0 0 0,-5 7 0 0 0,-17 1 0 0 0,-13-4 0 0 0,-5 0 0 0 0,-5-3 0 0 0,-10-3 0 0 0,-4-4 0 0 0,-7-4 0 0 0,4 4 0 0 0,2 0 0 0 0,-2-1 0 0 0,0-2 0 0 0,1-1 0 0 0,7 8 0 0 0,-3 3 0 0 0,0-1 0 0 0,-4-3 0 0 0,-3-3 0 0 0,7 2 0 0 0,3-1 0 0 0,-4-1 0 0 0,-1-2 0 0 0,-5-2 0 0 0,0-1 0 0 0,-5-1 0 0 0,1-1 0 0 0,2-1 0 0 0,-1 1 0 0 0,0 0 0 0 0,-1-1 0 0 0,0 1 0 0 0,-2 0 0 0 0,2 0 0 0 0,2 0 0 0 0,-1 0 0 0 0,1 0 0 0 0,-2 0 0 0 0,1 0 0 0 0,2 0 0 0 0,-2 0 0 0 0,2 0 0 0 0,-4 0 0 0 0,2 0 0 0 0,-3 0 0 0 0,2 0 0 0 0,3 0 0 0 0,-2 0 0 0 0,1 0 0 0 0,-3 0 0 0 0,2 0 0 0 0,-3 0 0 0 0,2 0 0 0 0,3 0 0 0 0,-3 0 0 0 0,3 0 0 0 0,-4 0 0 0 0,2 0 0 0 0,-3 0 0 0 0,2 0 0 0 0,3 0 0 0 0,7-10 0 0 0,1-3 0 0 0,-1 1 0 0 0,-4 1 0 0 0,-1 4 0 0 0,1 3 0 0 0,-3 1 0 0 0,0 3 0 0 0,-4-1 0 0 0,2 2 0 0 0,-3-1 0 0 0,1 1 0 0 0,3-1 0 0 0,-1 1 0 0 0,1-1 0 0 0,-3 0 0 0 0,2 0 0 0 0,-3 0 0 0 0,2 0 0 0 0,3 0 0 0 0,-2 0 0 0 0,1 0 0 0 0,-3 0 0 0 0,7-5 0 0 0,4-1 0 0 0,2-1 0 0 0,-3 2 0 0 0,-1 2 0 0 0,-4 0 0 0 0,-2 2 0 0 0,-3 1 0 0 0,1 0 0 0 0,3 0 0 0 0,-3 0 0 0 0,7-4 0 0 0,3-3 0 0 0,-1 1 0 0 0,-1 1 0 0 0,-5 2 0 0 0,0 0 0 0 0,2 2 0 0 0,-4 1 0 0 0,7-10 0 0 0,2-3 0 0 0,-1 1 0 0 0,-2 2 0 0 0,-3 3 0 0 0,-1 3 0 0 0,1 1 0 0 0,-3 3 0 0 0,2 0 0 0 0,6-5 0 0 0,-1-1 0 0 0,1 0 0 0 0,1 2 0 0 0,-4 0 0 0 0,-1 2 0 0 0,-4 1 0 0 0,5-9 0 0 0,4-3 0 0 0,-3 1 0 0 0,0 2 0 0 0,1 3 0 0 0,6-2 0 0 0,-2 0 0 0 0,-1 2 0 0 0,-4 2 0 0 0,-3 2 0 0 0,-3 1 0 0 0,5-9 0 0 0,3-2 0 0 0,3 1 0 0 0,-4 2 0 0 0,-1 4 0 0 0,6-3 0 0 0,-2 0 0 0 0,-1 2 0 0 0,0 2 0 0 0,-5 2 0 0 0,5-4 0 0 0,2 0 0 0 0,-3 1 0 0 0,-1 1 0 0 0,-5 2 0 0 0,5-9 0 0 0,2-2 0 0 0,3 1 0 0 0,-5 3 0 0 0,0 3 0 0 0,5-2 0 0 0,-3 1 0 0 0,0 1 0 0 0,-5 2 0 0 0,-1 2 0 0 0,6-9 0 0 0,3-2 0 0 0,-2 2 0 0 0,-2 2 0 0 0,-5 3 0 0 0,-1 3 0 0 0,-3 2 0 0 0,0 1 0 0 0,2 2 0 0 0,-1-1 0 0 0,5-4 0 0 0,5-2 0 0 0,-3 0 0 0 0,0 1 0 0 0,0 2 0 0 0,-3 1 0 0 0,-1 0 0 0 0,-3 2 0 0 0,0 0 0 0 0,-3 0 0 0 0,1 0 0 0 0,3 1 0 0 0,-1-1 0 0 0,1 0 0 0 0,-3 0 0 0 0,2 0 0 0 0,-3 0 0 0 0,2 0 0 0 0,2 0 0 0 0,-1 0 0 0 0,1 0 0 0 0,-2 0 0 0 0,1 0 0 0 0,2 0 0 0 0,-2 0 0 0 0,2 0 0 0 0,-4 0 0 0 0,2 0 0 0 0,-3 0 0 0 0,2 0 0 0 0,3 0 0 0 0,-3 0 0 0 0,2 0 0 0 0,-2 0 0 0 0,1 0 0 0 0,-3 0 0 0 0,2 0 0 0 0,2 0 0 0 0,-1 0 0 0 0,2 0 0 0 0,-4 0 0 0 0,2 0 0 0 0,-3 0 0 0 0,7-10 0 0 0,4-3 0 0 0,3 1 0 0 0,-3 2 0 0 0,-1 2 0 0 0,-5 4 0 0 0,0 2 0 0 0,1 1 0 0 0,-3 1 0 0 0,1 0 0 0 0,-2 1 0 0 0,0-1 0 0 0,8-4 0 0 0,-1-3 0 0 0,2 1 0 0 0,0 1 0 0 0,-3 2 0 0 0,-1 1 0 0 0,-4 0 0 0 0,1 2 0 0 0,-4 0 0 0 0,1 0 0 0 0,4 0 0 0 0,-3 1 0 0 0,2-1 0 0 0,-3 0 0 0 0,2 0 0 0 0,2 0 0 0 0,-1 0 0 0 0,0 0 0 0 0,-2 0 0 0 0,0 0 0 0 0,-1 0 0 0 0,0 0 0 0 0,4 0 0 0 0,-2 0 0 0 0,6 10 0 0 0,4 3 0 0 0,-3 0 0 0 0,0-3 0 0 0,-4-3 0 0 0,4 2 0 0 0,3 0 0 0 0,2-2 0 0 0,-4-2 0 0 0,-1-1 0 0 0,-6-3 0 0 0,1 0 0 0 0,-4-1 0 0 0,0 0 0 0 0,8 9 0 0 0,5 4 0 0 0,-2-1 0 0 0,-1-2 0 0 0,-5-3 0 0 0,0-3 0 0 0,1-1 0 0 0,-3-2 0 0 0,0-1 0 0 0,-3-1 0 0 0,2 1 0 0 0,-4-1 0 0 0,8 6 0 0 0,4 1 0 0 0,3 0 0 0 0,-4-1 0 0 0,0-2 0 0 0,-5 0 0 0 0,0-2 0 0 0,-4-1 0 0 0,1 0 0 0 0,3 0 0 0 0,-3 0 0 0 0,12 0 0 0 0,15-1 0 0 0,15 1 0 0 0,18 0 0 0 0,11 0 0 0 0,9 0 0 0 0,5 0 0 0 0,3 0 0 0 0,0 0 0 0 0,-3 0 0 0 0,1 0 0 0 0,-3 0 0 0 0,3 0 0 0 0,-3 0 0 0 0,3 0 0 0 0,-2 0 0 0 0,-2 0 0 0 0,1 0 0 0 0,-2 0 0 0 0,4 0 0 0 0,-2 0 0 0 0,-2 0 0 0 0,1 0 0 0 0,0 0 0 0 0,2 0 0 0 0,-1 0 0 0 0,3 0 0 0 0,-1 0 0 0 0,-4 0 0 0 0,2 0 0 0 0,-1 0 0 0 0,2 0 0 0 0,0 0 0 0 0,1 0 0 0 0,0 0 0 0 0,-4 0 0 0 0,2 0 0 0 0,-1 0 0 0 0,2 0 0 0 0,0 0 0 0 0,1 0 0 0 0,-5 10 0 0 0,-5 3 0 0 0,-4 0 0 0 0,10-3 0 0 0,6-3 0 0 0,2-3 0 0 0,2-1 0 0 0,-3-2 0 0 0,-3-1 0 0 0,0-1 0 0 0,-7 6 0 0 0,-4 1 0 0 0,1-1 0 0 0,1 0 0 0 0,4-2 0 0 0,1 0 0 0 0,-2-2 0 0 0,3-1 0 0 0,0 0 0 0 0,3 0 0 0 0,-2 0 0 0 0,-6 4 0 0 0,-1 3 0 0 0,0-1 0 0 0,-2-1 0 0 0,4-2 0 0 0,1 0 0 0 0,4-2 0 0 0,0-1 0 0 0,-7 10 0 0 0,-20 3 0 0 0,-16-1 0 0 0,-18 3 0 0 0,-11-1 0 0 0,-5-4 0 0 0,4 7 0 0 0,-2 1 0 0 0,-1-3 0 0 0,-4-5 0 0 0,-1-2 0 0 0,7 0 0 0 0,-1 1 0 0 0,1-3 0 0 0,0-1 0 0 0,-3-2 0 0 0,-1-2 0 0 0,6 10 0 0 0,-2 2 0 0 0,0-1 0 0 0,-4-2 0 0 0,-1-4 0 0 0,1-1 0 0 0,-3-3 0 0 0,1-1 0 0 0,-4-1 0 0 0,1-1 0 0 0,3 1 0 0 0,-2-1 0 0 0,1 1 0 0 0,-2-1 0 0 0,0 1 0 0 0,8 5 0 0 0,0 1 0 0 0,1 1 0 0 0,0-2 0 0 0,-3-2 0 0 0,-1 0 0 0 0,-3-2 0 0 0,-1-1 0 0 0,-3 0 0 0 0,2 0 0 0 0,2 0 0 0 0,-2 0 0 0 0,2-1 0 0 0,-2 1 0 0 0,0 0 0 0 0,3 0 0 0 0,-1 0 0 0 0,0 0 0 0 0,-2 0 0 0 0,0 0 0 0 0,-1 0 0 0 0,0 0 0 0 0,4 0 0 0 0,-2 0 0 0 0,1 0 0 0 0,-2 0 0 0 0,0 0 0 0 0,-1 0 0 0 0,0 0 0 0 0,4 0 0 0 0,-2 0 0 0 0,1 0 0 0 0,-2 0 0 0 0,0 0 0 0 0,-1 0 0 0 0,0 0 0 0 0,4 0 0 0 0,-2 0 0 0 0,1 0 0 0 0,7-10 0 0 0,0-3 0 0 0,1 1 0 0 0,0 1 0 0 0,-4 4 0 0 0,-1 3 0 0 0,6-3 0 0 0,-2-1 0 0 0,1 2 0 0 0,-6 1 0 0 0,5-8 0 0 0,3-2 0 0 0,1 2 0 0 0,-4 3 0 0 0,-1 3 0 0 0,5-2 0 0 0,-3 0 0 0 0,0 2 0 0 0,-5 3 0 0 0,4-9 0 0 0,2-2 0 0 0,3 2 0 0 0,-5 3 0 0 0,3-2 0 0 0,2 1 0 0 0,-3 3 0 0 0,2-3 0 0 0,2 2 0 0 0,0 1 0 0 0,6-8 0 0 0,-5 0 0 0 0,3-4 0 0 0,5-7 0 0 0,1 1 0 0 0,3-1 0 0 0,14-5 0 0 0,11 3 0 0 0,10 6 0 0 0,10 7 0 0 0,6 6 0 0 0,5 6 0 0 0,2 2 0 0 0,-3 2 0 0 0,2-4 0 0 0,-1-1 0 0 0,1 0 0 0 0,0 1 0 0 0,1 1 0 0 0,-2 1 0 0 0,-2 2 0 0 0,1-1 0 0 0,-1 1 0 0 0,2 0 0 0 0,-1 0 0 0 0,3 1 0 0 0,-2-1 0 0 0,-3 0 0 0 0,2 0 0 0 0,-1 0 0 0 0,3 0 0 0 0,-2 0 0 0 0,-2 0 0 0 0,1 0 0 0 0,0 0 0 0 0,2 0 0 0 0,0 0 0 0 0,1 0 0 0 0,-5 10 0 0 0,-5 3 0 0 0,-3 0 0 0 0,3-3 0 0 0,-4 2 0 0 0,-12-1 0 0 0,-8 7 0 0 0,-12 1 0 0 0,-9-3 0 0 0,-13-4 0 0 0,-7-4 0 0 0,-8-3 0 0 0,-2-4 0 0 0,-4 0 0 0 0,1-2 0 0 0,8 6 0 0 0,6 0 0 0 0,-2 1 0 0 0,0-2 0 0 0,-5 0 0 0 0,0-2 0 0 0,0-1 0 0 0,-2-1 0 0 0,1 0 0 0 0,-4 0 0 0 0,2 0 0 0 0,-3 0 0 0 0,1-1 0 0 0,3 1 0 0 0,-1 0 0 0 0,1 0 0 0 0,-2 0 0 0 0,0 0 0 0 0,-1 0 0 0 0,0 0 0 0 0,4 0 0 0 0,-2 0 0 0 0,1 0 0 0 0,-2 0 0 0 0,0 0 0 0 0,4 0 0 0 0,-3 0 0 0 0,1 0 0 0 0,-2 0 0 0 0,1 0 0 0 0,-3-10 0 0 0,2-3 0 0 0,2 1 0 0 0,-1 2 0 0 0,1 2 0 0 0,-2 4 0 0 0,0 2 0 0 0,-1 1 0 0 0,1 1 0 0 0,2 0 0 0 0,-1 1 0 0 0,1-1 0 0 0,8-4 0 0 0,-1-3 0 0 0,0 1 0 0 0,-4 1 0 0 0,-1 2 0 0 0,2 1 0 0 0,-4 0 0 0 0,1 2 0 0 0,-3 0 0 0 0,0 0 0 0 0,3 0 0 0 0,-2 1 0 0 0,1-1 0 0 0,-3 0 0 0 0,2 0 0 0 0,7 10 0 0 0,0 3 0 0 0,5 5 0 0 0,3-2 0 0 0,1-2 0 0 0,5 5 0 0 0,-4 0 0 0 0,1 2 0 0 0,1-4 0 0 0,-6-3 0 0 0,1 0 0 0 0,1-2 0 0 0,-6-4 0 0 0,4 8 0 0 0,1 0 0 0 0,5 3 0 0 0,1-2 0 0 0,-5-4 0 0 0,1 6 0 0 0,1-1 0 0 0,-6-3 0 0 0,2 1 0 0 0,1-2 0 0 0,0-4 0 0 0,-5-4 0 0 0,-2-2 0 0 0,-5-2 0 0 0,4 8 0 0 0,3 3 0 0 0,-3-1 0 0 0,-1-3 0 0 0,2-2 0 0 0,-4-3 0 0 0,0-2 0 0 0,-4-2 0 0 0,1 0 0 0 0,-3 0 0 0 0,1-1 0 0 0,3 1 0 0 0,14 0 0 0 0,10-6 0 0 0,19 0 0 0 0,13-1 0 0 0,14 2 0 0 0,6-3 0 0 0,8-1 0 0 0,1 1 0 0 0,-3 3 0 0 0,2 1 0 0 0,-1 2 0 0 0,1 1 0 0 0,-2 1 0 0 0,2 1 0 0 0,-1-1 0 0 0,-4 0 0 0 0,2 1 0 0 0,-1-1 0 0 0,2 0 0 0 0,-1 0 0 0 0,-2 0 0 0 0,2 0 0 0 0,-2 0 0 0 0,4 0 0 0 0,-2 0 0 0 0,3 0 0 0 0,-2 0 0 0 0,-2 0 0 0 0,1 0 0 0 0,-1 0 0 0 0,2 0 0 0 0,-1 0 0 0 0,3 0 0 0 0,-2 0 0 0 0,-2 0 0 0 0,1 0 0 0 0,-1 0 0 0 0,2 0 0 0 0,-1 0 0 0 0,-2 0 0 0 0,2 0 0 0 0,-2 0 0 0 0,4 0 0 0 0,-2 0 0 0 0,3 0 0 0 0,-2 0 0 0 0,-3 0 0 0 0,3 0 0 0 0,-3 0 0 0 0,4 0 0 0 0,-2 0 0 0 0,3 0 0 0 0,-2 0 0 0 0,-3 0 0 0 0,3 0 0 0 0,-3 0 0 0 0,4 0 0 0 0,-2 0 0 0 0,3 0 0 0 0,-2 0 0 0 0,-3 0 0 0 0,2 0 0 0 0,-1 0 0 0 0,3 0 0 0 0,-2 0 0 0 0,-7 0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6T02:42:36.7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15839 14795 16383 0 0,'5'-10'0'0'0,"6"-3"0"0"0,12 0 0 0 0,6 3 0 0 0,-1-2 0 0 0,4 1 0 0 0,2 2 0 0 0,-1 3 0 0 0,5 3 0 0 0,-4-9 0 0 0,-4-2 0 0 0,4 2 0 0 0,0 2 0 0 0,0 4 0 0 0,4 2 0 0 0,0 2 0 0 0,4 1 0 0 0,0 1 0 0 0,2 1 0 0 0,-2-1 0 0 0,-2 1 0 0 0,-8-6 0 0 0,0-1 0 0 0,-1 0 0 0 0,5 1 0 0 0,1 2 0 0 0,4 0 0 0 0,0 2 0 0 0,-2 1 0 0 0,2 0 0 0 0,0 0 0 0 0,1 0 0 0 0,0 0 0 0 0,-3 0 0 0 0,2 1 0 0 0,-1-1 0 0 0,2 0 0 0 0,-1 0 0 0 0,3 0 0 0 0,-2 0 0 0 0,-2 0 0 0 0,1 0 0 0 0,-1 0 0 0 0,2 0 0 0 0,-1 0 0 0 0,3 0 0 0 0,-2 0 0 0 0,-2 0 0 0 0,1 0 0 0 0,-1 0 0 0 0,2 0 0 0 0,-1 0 0 0 0,3 0 0 0 0,-2 0 0 0 0,-2 0 0 0 0,1 0 0 0 0,-1 0 0 0 0,2 0 0 0 0,-1 0 0 0 0,-2 0 0 0 0,2 0 0 0 0,-2 0 0 0 0,4 0 0 0 0,-2 0 0 0 0,3 0 0 0 0,-2 0 0 0 0,-2 0 0 0 0,1 0 0 0 0,-1 0 0 0 0,2 0 0 0 0,-1 0 0 0 0,3 0 0 0 0,-2 0 0 0 0,-2 0 0 0 0,1 0 0 0 0,-1 0 0 0 0,2 0 0 0 0,-1 0 0 0 0,-2 0 0 0 0,2 0 0 0 0,-2 0 0 0 0,4 0 0 0 0,-2 0 0 0 0,3 0 0 0 0,-2 0 0 0 0,-3 0 0 0 0,3 0 0 0 0,-3 0 0 0 0,4 0 0 0 0,-2 0 0 0 0,3 0 0 0 0,-2 0 0 0 0,-2 0 0 0 0,1 0 0 0 0,-2 0 0 0 0,4 0 0 0 0,-2 0 0 0 0,3 0 0 0 0,-2 0 0 0 0,-3 0 0 0 0,3 0 0 0 0,-3 0 0 0 0,4 0 0 0 0,-2 0 0 0 0,-2 0 0 0 0,1 0 0 0 0,0 0 0 0 0,2 0 0 0 0,0 0 0 0 0,1 0 0 0 0,0 0 0 0 0,-4 0 0 0 0,2 0 0 0 0,-1 0 0 0 0,3 0 0 0 0,-2 0 0 0 0,3 0 0 0 0,-2 0 0 0 0,-3 0 0 0 0,2 0 0 0 0,-1 0 0 0 0,3 0 0 0 0,-2 0 0 0 0,-2 0 0 0 0,1 0 0 0 0,0 0 0 0 0,2 0 0 0 0,0 0 0 0 0,1 0 0 0 0,0 0 0 0 0,-4 0 0 0 0,2 0 0 0 0,-1 0 0 0 0,3 0 0 0 0,-2 0 0 0 0,3 0 0 0 0,-2 0 0 0 0,-3 0 0 0 0,2 0 0 0 0,-1 0 0 0 0,3 0 0 0 0,-2 0 0 0 0,2 0 0 0 0,-10 0 0 0 0,-17 0 0 0 0,-20 0 0 0 0,-15 0 0 0 0,-13 0 0 0 0,-8 0 0 0 0,0 0 0 0 0,-4 0 0 0 0,0 0 0 0 0,-1 0 0 0 0,1 0 0 0 0,-1 0 0 0 0,6 10 0 0 0,6 3 0 0 0,3-1 0 0 0,-3-2 0 0 0,-1-3 0 0 0,-5-2 0 0 0,0-3 0 0 0,-4-1 0 0 0,1-1 0 0 0,3 0 0 0 0,-3-1 0 0 0,2 1 0 0 0,-3-1 0 0 0,2 1 0 0 0,2 0 0 0 0,-2 0 0 0 0,1 0 0 0 0,-2 0 0 0 0,1 0 0 0 0,-3 0 0 0 0,2 0 0 0 0,2 0 0 0 0,-1 0 0 0 0,1 0 0 0 0,-2 0 0 0 0,0 0 0 0 0,-1 0 0 0 0,0 0 0 0 0,4 0 0 0 0,-2 0 0 0 0,1 0 0 0 0,-2 0 0 0 0,0 0 0 0 0,4 0 0 0 0,-3 0 0 0 0,1 0 0 0 0,-2 0 0 0 0,1 0 0 0 0,-3 0 0 0 0,2 0 0 0 0,2 0 0 0 0,-1 0 0 0 0,1 0 0 0 0,-2 0 0 0 0,1 0 0 0 0,-3-5 0 0 0,-8-2 0 0 0,-1 1 0 0 0,5 1 0 0 0,-1 1 0 0 0,4 2 0 0 0,0 1 0 0 0,2 1 0 0 0,-1 0 0 0 0,2 0 0 0 0,3-5 0 0 0,-2-1 0 0 0,2 0 0 0 0,-3 1 0 0 0,1 1 0 0 0,2 2 0 0 0,-2 1 0 0 0,2 1 0 0 0,-4 0 0 0 0,2 0 0 0 0,-3 0 0 0 0,2 0 0 0 0,2-9 0 0 0,-1-4 0 0 0,1 0 0 0 0,-2 3 0 0 0,1 3 0 0 0,-3 3 0 0 0,2 1 0 0 0,2 2 0 0 0,-1 1 0 0 0,1 1 0 0 0,-2-1 0 0 0,1-4 0 0 0,-3-2 0 0 0,2 0 0 0 0,2 1 0 0 0,-1 1 0 0 0,1 2 0 0 0,-2 1 0 0 0,1 1 0 0 0,2 0 0 0 0,-2 0 0 0 0,2 0 0 0 0,-4 0 0 0 0,2 1 0 0 0,-3-1 0 0 0,2 0 0 0 0,3 0 0 0 0,-3 0 0 0 0,3 0 0 0 0,-4 0 0 0 0,2 0 0 0 0,-3 0 0 0 0,2 0 0 0 0,3 0 0 0 0,-3 0 0 0 0,3 0 0 0 0,-4 0 0 0 0,2 0 0 0 0,2 0 0 0 0,-1 0 0 0 0,5 10 0 0 0,4 3 0 0 0,-2-1 0 0 0,-1-2 0 0 0,-5 2 0 0 0,0-1 0 0 0,2-2 0 0 0,-4-3 0 0 0,1-2 0 0 0,8 7 0 0 0,-2 3 0 0 0,1-1 0 0 0,-4-4 0 0 0,-1-2 0 0 0,1 2 0 0 0,-2-1 0 0 0,-1-1 0 0 0,-2-2 0 0 0,0-2 0 0 0,-2-1 0 0 0,2-2 0 0 0,7 10 0 0 0,5 3 0 0 0,-2-1 0 0 0,-1-2 0 0 0,-4-3 0 0 0,-1-3 0 0 0,1-2 0 0 0,-3-1 0 0 0,0-1 0 0 0,-3 0 0 0 0,1-1 0 0 0,-2 1 0 0 0,2-1 0 0 0,2 1 0 0 0,-1 0 0 0 0,1 0 0 0 0,-3 0 0 0 0,2 0 0 0 0,-3 0 0 0 0,2 0 0 0 0,3 0 0 0 0,-2 0 0 0 0,1 0 0 0 0,-2 0 0 0 0,0 0 0 0 0,4 0 0 0 0,-3 0 0 0 0,1 0 0 0 0,-2 0 0 0 0,1 0 0 0 0,-3 0 0 0 0,1 0 0 0 0,4 0 0 0 0,-2 0 0 0 0,1 0 0 0 0,-2 0 0 0 0,0 0 0 0 0,-1 0 0 0 0,0 0 0 0 0,4 0 0 0 0,-2 5 0 0 0,1 1 0 0 0,8 5 0 0 0,-2 1 0 0 0,2-2 0 0 0,5 7 0 0 0,-3 1 0 0 0,5 2 0 0 0,0-2 0 0 0,6 5 0 0 0,5 5 0 0 0,15-4 0 0 0,13-5 0 0 0,13-6 0 0 0,7-5 0 0 0,8-4 0 0 0,2-3 0 0 0,-2-1 0 0 0,2-1 0 0 0,-7 4 0 0 0,-5 3 0 0 0,-17-1 0 0 0,-16 0 0 0 0,-13-2 0 0 0,-14-1 0 0 0,-8-1 0 0 0,-6 0 0 0 0,-2-1 0 0 0,-3 0 0 0 0,1-1 0 0 0,4 1 0 0 0,-1 0 0 0 0,2 0 0 0 0,-2 0 0 0 0,2 0 0 0 0,2 0 0 0 0,-2 0 0 0 0,2 0 0 0 0,-3 0 0 0 0,1 0 0 0 0,-3 0 0 0 0,2 0 0 0 0,2 0 0 0 0,-1 0 0 0 0,1 0 0 0 0,-2 0 0 0 0,0 0 0 0 0,-1 0 0 0 0,1 0 0 0 0,2 0 0 0 0,-1 0 0 0 0,1 0 0 0 0,-2 0 0 0 0,1 0 0 0 0,2 0 0 0 0,-2 0 0 0 0,1 0 0 0 0,-2 0 0 0 0,1 0 0 0 0,-3 0 0 0 0,2 0 0 0 0,2 0 0 0 0,-1 0 0 0 0,1 0 0 0 0,-2 0 0 0 0,1 0 0 0 0,-3 0 0 0 0,2 0 0 0 0,2 0 0 0 0,-1 0 0 0 0,1 0 0 0 0,-2 0 0 0 0,1 0 0 0 0,-3 0 0 0 0,2 0 0 0 0,2 0 0 0 0,-1 0 0 0 0,1 0 0 0 0,-2 0 0 0 0,1 0 0 0 0,2 0 0 0 0,-2 0 0 0 0,2 0 0 0 0,-4 0 0 0 0,2 0 0 0 0,-3 0 0 0 0,2 0 0 0 0,2 0 0 0 0,-1 0 0 0 0,1 0 0 0 0,-2 0 0 0 0,1 0 0 0 0,-3 0 0 0 0,2 0 0 0 0,2 0 0 0 0,-1 0 0 0 0,1 0 0 0 0,-2 0 0 0 0,1 0 0 0 0,2 0 0 0 0,-2 0 0 0 0,2 0 0 0 0,6-5 0 0 0,0-2 0 0 0,0 1 0 0 0,-4 1 0 0 0,0 1 0 0 0,0 2 0 0 0,-2 1 0 0 0,-1 0 0 0 0,-2 1 0 0 0,5-9 0 0 0,5-4 0 0 0,-3 1 0 0 0,0 2 0 0 0,1 3 0 0 0,-4 3 0 0 0,0 1 0 0 0,-3 2 0 0 0,0 1 0 0 0,7-4 0 0 0,-1-2 0 0 0,1 0 0 0 0,2 1 0 0 0,-5 2 0 0 0,0 1 0 0 0,-3 1 0 0 0,4-9 0 0 0,13-3 0 0 0,17 0 0 0 0,17 3 0 0 0,14 4 0 0 0,6 1 0 0 0,8 3 0 0 0,3 1 0 0 0,3 1 0 0 0,0 1 0 0 0,1-1 0 0 0,-2 1 0 0 0,-3-1 0 0 0,1 1 0 0 0,-2-1 0 0 0,-7-5 0 0 0,0-2 0 0 0,0 1 0 0 0,3 1 0 0 0,2 1 0 0 0,-2 2 0 0 0,4 1 0 0 0,-1 1 0 0 0,3-1 0 0 0,0 2 0 0 0,2-1 0 0 0,-1 0 0 0 0,-4 0 0 0 0,3 1 0 0 0,-2-1 0 0 0,2 0 0 0 0,0 0 0 0 0,-4 0 0 0 0,3 0 0 0 0,-1 0 0 0 0,2 0 0 0 0,-1 0 0 0 0,3 0 0 0 0,-2 0 0 0 0,-2 0 0 0 0,1 0 0 0 0,-1 0 0 0 0,2 0 0 0 0,-1 0 0 0 0,3 0 0 0 0,-2 0 0 0 0,-2 0 0 0 0,1 0 0 0 0,-1 0 0 0 0,2 0 0 0 0,-1 0 0 0 0,-2 0 0 0 0,2 0 0 0 0,-2 0 0 0 0,4 0 0 0 0,-2 0 0 0 0,3 0 0 0 0,-2 0 0 0 0,-2 0 0 0 0,1 0 0 0 0,-1 0 0 0 0,2 0 0 0 0,-1 0 0 0 0,3 0 0 0 0,-2 0 0 0 0,-2 0 0 0 0,1 0 0 0 0,-1 0 0 0 0,2 0 0 0 0,-1 0 0 0 0,3 0 0 0 0,-2 0 0 0 0,-2 0 0 0 0,1 0 0 0 0,-2 0 0 0 0,4 0 0 0 0,-2 0 0 0 0,-2 0 0 0 0,2 0 0 0 0,-2 0 0 0 0,4 0 0 0 0,-2 0 0 0 0,3 0 0 0 0,-2 0 0 0 0,-3 0 0 0 0,2 0 0 0 0,-1 0 0 0 0,3 0 0 0 0,-2 0 0 0 0,3 0 0 0 0,-7-5 0 0 0,-4-2 0 0 0,-3 1 0 0 0,3 1 0 0 0,1 1 0 0 0,5 2 0 0 0,0 1 0 0 0,-1 1 0 0 0,3-1 0 0 0,-2 2 0 0 0,4-1 0 0 0,-1 0 0 0 0,-8-9 0 0 0,1-4 0 0 0,-2 0 0 0 0,0 3 0 0 0,3 3 0 0 0,1 3 0 0 0,3 1 0 0 0,1 2 0 0 0,3 1 0 0 0,-2 1 0 0 0,-2-1 0 0 0,2 1 0 0 0,-2-1 0 0 0,2 1 0 0 0,0-1 0 0 0,2 0 0 0 0,-2 0 0 0 0,-3 0 0 0 0,2 0 0 0 0,-1 0 0 0 0,3 0 0 0 0,-2 0 0 0 0,-2 0 0 0 0,1 0 0 0 0,0 0 0 0 0,2 0 0 0 0,0 0 0 0 0,1 0 0 0 0,0 0 0 0 0,-4 0 0 0 0,2 0 0 0 0,-1 0 0 0 0,2 0 0 0 0,0 0 0 0 0,1 0 0 0 0,0 0 0 0 0,-4 0 0 0 0,2 0 0 0 0,-1 0 0 0 0,2 0 0 0 0,0 0 0 0 0,-4 0 0 0 0,3 0 0 0 0,-6-5 0 0 0,-4-2 0 0 0,2 1 0 0 0,1 1 0 0 0,5 1 0 0 0,0 2 0 0 0,-2 1 0 0 0,3 1 0 0 0,0 0 0 0 0,3 0 0 0 0,-1 0 0 0 0,2 0 0 0 0,-2 0 0 0 0,-2 1 0 0 0,-9-11 0 0 0,1-3 0 0 0,-1 0 0 0 0,5 3 0 0 0,1 3 0 0 0,4 3 0 0 0,0 1 0 0 0,-2 2 0 0 0,2 1 0 0 0,0 1 0 0 0,1-1 0 0 0,0 1 0 0 0,-3-1 0 0 0,2 1 0 0 0,-6-6 0 0 0,-4-2 0 0 0,2 1 0 0 0,1 1 0 0 0,4 2 0 0 0,1 0 0 0 0,-1 2 0 0 0,2 1 0 0 0,0 0 0 0 0,3 0 0 0 0,-2 0 0 0 0,3 0 0 0 0,-1 0 0 0 0,-3 1 0 0 0,1-1 0 0 0,-1 0 0 0 0,2 0 0 0 0,0 0 0 0 0,-4 0 0 0 0,3 0 0 0 0,-1-10 0 0 0,2-3 0 0 0,-1 0 0 0 0,3 3 0 0 0,-2 3 0 0 0,-2 3 0 0 0,1 1 0 0 0,-1 2 0 0 0,2 1 0 0 0,-1 1 0 0 0,3-1 0 0 0,-2 1 0 0 0,-2-1 0 0 0,1 1 0 0 0,-1-1 0 0 0,2 0 0 0 0,-1 0 0 0 0,3 0 0 0 0,-2-5 0 0 0,-2-2 0 0 0,1 1 0 0 0,-1 1 0 0 0,2 1 0 0 0,-1 2 0 0 0,-2 1 0 0 0,2 1 0 0 0,-2 0 0 0 0,4 0 0 0 0,-2 0 0 0 0,3 0 0 0 0,-2 1 0 0 0,-3-1 0 0 0,3 0 0 0 0,-2 0 0 0 0,2 0 0 0 0,-1 0 0 0 0,3 0 0 0 0,-2 0 0 0 0,-2 0 0 0 0,1 0 0 0 0,-2 0 0 0 0,4 0 0 0 0,-2 0 0 0 0,-2 0 0 0 0,2 0 0 0 0,-2 0 0 0 0,4 0 0 0 0,-7-5 0 0 0,-4-2 0 0 0,3 1 0 0 0,-1 1 0 0 0,0 1 0 0 0,4 2 0 0 0,0 1 0 0 0,3 1 0 0 0,0 0 0 0 0,3 0 0 0 0,-1 0 0 0 0,-3 0 0 0 0,1 1 0 0 0,-1-1 0 0 0,3 0 0 0 0,-2 0 0 0 0,3 0 0 0 0,-2 0 0 0 0,-3 0 0 0 0,2 0 0 0 0,-1 0 0 0 0,3 0 0 0 0,-2 0 0 0 0,-2 0 0 0 0,1 0 0 0 0,0 0 0 0 0,2 0 0 0 0,0 0 0 0 0,1 0 0 0 0,0 0 0 0 0,-4 0 0 0 0,2 0 0 0 0,-1 0 0 0 0,3 0 0 0 0,-2 0 0 0 0,3 0 0 0 0,-2 0 0 0 0,-3 0 0 0 0,2 0 0 0 0,-1 0 0 0 0,3 0 0 0 0,-2 0 0 0 0,-2 0 0 0 0,1 0 0 0 0,0 0 0 0 0,2 0 0 0 0,0 0 0 0 0,1 0 0 0 0,0 0 0 0 0,-4 0 0 0 0,2 0 0 0 0,-1 0 0 0 0,2 0 0 0 0,0 0 0 0 0,1 0 0 0 0,0 0 0 0 0,-4 0 0 0 0,2 0 0 0 0,-1 0 0 0 0,2 0 0 0 0,0 0 0 0 0,1 0 0 0 0,0 0 0 0 0,-4 0 0 0 0,2 0 0 0 0,-1 0 0 0 0,2 0 0 0 0,0 0 0 0 0,-4 0 0 0 0,3 0 0 0 0,-1 0 0 0 0,2 0 0 0 0,-1 0 0 0 0,3 0 0 0 0,-2 0 0 0 0,-2 0 0 0 0,1 0 0 0 0,-1 0 0 0 0,2 0 0 0 0,0 0 0 0 0,1 0 0 0 0,0 0 0 0 0,-4 0 0 0 0,2 0 0 0 0,-1 0 0 0 0,2 0 0 0 0,0 0 0 0 0,-4 0 0 0 0,3 0 0 0 0,-1 0 0 0 0,2 0 0 0 0,-1 0 0 0 0,3 0 0 0 0,-2 0 0 0 0,-2 0 0 0 0,1 0 0 0 0,-1 0 0 0 0,2 0 0 0 0,-1 0 0 0 0,3 0 0 0 0,-2 0 0 0 0,-2 0 0 0 0,1 0 0 0 0,-1 0 0 0 0,2 0 0 0 0,-1 0 0 0 0,3 0 0 0 0,-2 0 0 0 0,-2 0 0 0 0,1 0 0 0 0,-1 0 0 0 0,2 0 0 0 0,-1 0 0 0 0,-2 0 0 0 0,2 0 0 0 0,-2 0 0 0 0,4 0 0 0 0,-2 0 0 0 0,3 0 0 0 0,-2 0 0 0 0,-2 0 0 0 0,1 0 0 0 0,-1 0 0 0 0,2 0 0 0 0,-1 0 0 0 0,3 0 0 0 0,-2 0 0 0 0,-2 0 0 0 0,1 0 0 0 0,-1 0 0 0 0,2 0 0 0 0,-1 0 0 0 0,-2 0 0 0 0,2 0 0 0 0,-2 0 0 0 0,4 0 0 0 0,-2 0 0 0 0,3 0 0 0 0,-2 0 0 0 0,-3 0 0 0 0,-7 5 0 0 0,-10 11 0 0 0,-9 8 0 0 0,-11 10 0 0 0,-16-1 0 0 0,-10-6 0 0 0,-2-2 0 0 0,-5-7 0 0 0,-4-5 0 0 0,-4-5 0 0 0,3 6 0 0 0,4 0 0 0 0,2-2 0 0 0,-4-3 0 0 0,4 2 0 0 0,2-1 0 0 0,-4-2 0 0 0,-1-3 0 0 0,4 4 0 0 0,3-1 0 0 0,-4-1 0 0 0,-2-2 0 0 0,-6-2 0 0 0,-1-1 0 0 0,7 8 0 0 0,-3 3 0 0 0,2 0 0 0 0,0-4 0 0 0,-4-2 0 0 0,0-3 0 0 0,-4-1 0 0 0,0-3 0 0 0,-3 0 0 0 0,1 0 0 0 0,3-1 0 0 0,-1 1 0 0 0,1-1 0 0 0,-3 1 0 0 0,2 0 0 0 0,2 0 0 0 0,-2 0 0 0 0,2 0 0 0 0,-4 0 0 0 0,2 0 0 0 0,-3 0 0 0 0,2 0 0 0 0,3 0 0 0 0,-3 0 0 0 0,3 0 0 0 0,-4 0 0 0 0,2 0 0 0 0,-3 0 0 0 0,2 0 0 0 0,3 0 0 0 0,-3 0 0 0 0,3 0 0 0 0,-4 0 0 0 0,2 0 0 0 0,-3 0 0 0 0,2 0 0 0 0,3 0 0 0 0,-3 0 0 0 0,3 0 0 0 0,-4 0 0 0 0,2 0 0 0 0,2 0 0 0 0,-1 0 0 0 0,0 0 0 0 0,-2 0 0 0 0,0 0 0 0 0,-1 0 0 0 0,0 0 0 0 0,4 0 0 0 0,-2 0 0 0 0,1 0 0 0 0,-3 0 0 0 0,2 0 0 0 0,7-5 0 0 0,0-2 0 0 0,1 1 0 0 0,0 1 0 0 0,-3 1 0 0 0,4 2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ITXXXXXXXX</a:t>
            </a:r>
            <a:r>
              <a:rPr lang="en-US" sz="1800">
                <a:solidFill>
                  <a:schemeClr val="tx1"/>
                </a:solidFill>
              </a:rPr>
              <a:t>   |   &lt;</a:t>
            </a:r>
            <a:r>
              <a:rPr lang="en-US" sz="1800" b="1">
                <a:solidFill>
                  <a:schemeClr val="tx1"/>
                </a:solidFill>
              </a:rPr>
              <a:t>&lt;Student Name&gt;&gt;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1/11/2026</a:t>
            </a:fld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3.xml"/><Relationship Id="rId11" Type="http://schemas.openxmlformats.org/officeDocument/2006/relationships/image" Target="../media/image43.png"/><Relationship Id="rId5" Type="http://schemas.openxmlformats.org/officeDocument/2006/relationships/image" Target="../media/image40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75E098-F3D0-453C-BBF5-A7C840F21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1544"/>
            <a:ext cx="11658600" cy="1470025"/>
          </a:xfrm>
        </p:spPr>
        <p:txBody>
          <a:bodyPr>
            <a:normAutofit/>
          </a:bodyPr>
          <a:lstStyle/>
          <a:p>
            <a:r>
              <a:rPr lang="en-US" sz="2400" b="1">
                <a:latin typeface="+mj-lt"/>
              </a:rPr>
              <a:t>An Energy-Efficient Dual Hydroponic System for Organic/Inorganic Capsicum Chili Farming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8F3F03-40A0-499D-BDCC-A8E886D9D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799" y="5638800"/>
            <a:ext cx="8534400" cy="1752600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tx1"/>
                </a:solidFill>
              </a:rPr>
              <a:t>25-26J-035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58C416EC-CA9A-3F94-C43F-FA01EE70E26E}"/>
              </a:ext>
            </a:extLst>
          </p:cNvPr>
          <p:cNvSpPr txBox="1">
            <a:spLocks/>
          </p:cNvSpPr>
          <p:nvPr/>
        </p:nvSpPr>
        <p:spPr>
          <a:xfrm>
            <a:off x="914398" y="-152400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b="1">
                <a:solidFill>
                  <a:srgbClr val="00B050"/>
                </a:solidFill>
                <a:latin typeface="+mj-lt"/>
              </a:rPr>
              <a:t>CEYLON - HYDRO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9D2623-9549-57CF-5BFC-B078DADF2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2" r="2252"/>
          <a:stretch/>
        </p:blipFill>
        <p:spPr>
          <a:xfrm>
            <a:off x="3391977" y="914400"/>
            <a:ext cx="5408043" cy="377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88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FCB7-EC63-495B-9ED3-9E3A0892B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514600"/>
            <a:ext cx="10363200" cy="1470025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rgbClr val="00B050"/>
                </a:solidFill>
              </a:rPr>
              <a:t>PROBLEM </a:t>
            </a:r>
            <a:r>
              <a:rPr lang="en-GB" sz="4800" b="1">
                <a:solidFill>
                  <a:srgbClr val="00B050"/>
                </a:solidFill>
              </a:rPr>
              <a:t>&amp; IMPACT</a:t>
            </a:r>
            <a:endParaRPr lang="en-US" sz="4800" b="1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9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1000"/>
    </mc:Choice>
    <mc:Fallback xmlns="">
      <p:transition spd="slow" advClick="0" advTm="11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82A7-78D3-FBA9-553B-675FD0119A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5902" y="162233"/>
            <a:ext cx="6806382" cy="60960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50"/>
                </a:solidFill>
              </a:rPr>
              <a:t>PROBLEM </a:t>
            </a:r>
            <a:r>
              <a:rPr lang="en-GB" b="1">
                <a:solidFill>
                  <a:srgbClr val="00B050"/>
                </a:solidFill>
              </a:rPr>
              <a:t>&amp; IMPACT</a:t>
            </a:r>
            <a:endParaRPr lang="en-US"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EAC89-FFB3-658D-5E46-D107F4A8F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4045" y="1193588"/>
            <a:ext cx="6806382" cy="5159085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1"/>
                </a:solidFill>
              </a:rPr>
              <a:t>Rising fertilizer costs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1"/>
                </a:solidFill>
              </a:rPr>
              <a:t>Climate change &amp; soil limitations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 b="1">
                <a:solidFill>
                  <a:schemeClr val="tx1"/>
                </a:solidFill>
              </a:rPr>
              <a:t>Farmers lack real-time visibility and control</a:t>
            </a:r>
            <a:endParaRPr lang="en-US" sz="1800" b="1">
              <a:solidFill>
                <a:schemeClr val="tx1"/>
              </a:solidFill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1"/>
                </a:solidFill>
              </a:rPr>
              <a:t>Current systems are costly , energy-hungry, not rural-ready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 b="1">
                <a:solidFill>
                  <a:schemeClr val="tx1"/>
                </a:solidFill>
              </a:rPr>
              <a:t>Nutrient imbalance reduce yield and quality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 b="1">
                <a:solidFill>
                  <a:schemeClr val="tx1"/>
                </a:solidFill>
              </a:rPr>
              <a:t>No clear comparison between organic and inorganic hydroponic methods</a:t>
            </a:r>
            <a:endParaRPr lang="en-US" sz="1800" b="1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9BF7B6-82F0-A63C-F0C5-893EA97ED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1573" y="1193589"/>
            <a:ext cx="2821289" cy="22354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3CB04BF-8521-5A86-FE1E-68B6D2C43D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77167" y="3793933"/>
            <a:ext cx="2821289" cy="199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349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E8254-6FF3-EBEA-4140-E8FA8CAB5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514600"/>
            <a:ext cx="10363200" cy="1470025"/>
          </a:xfrm>
        </p:spPr>
        <p:txBody>
          <a:bodyPr/>
          <a:lstStyle/>
          <a:p>
            <a:r>
              <a:rPr lang="en-GB" b="1">
                <a:solidFill>
                  <a:srgbClr val="00B050"/>
                </a:solidFill>
              </a:rPr>
              <a:t>Target Group / Who Benefits</a:t>
            </a:r>
            <a:endParaRPr lang="en-US" b="1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657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8F75C-1067-7BA0-C9E3-1D2003BB5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229048"/>
            <a:ext cx="9296400" cy="913504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00B050"/>
                </a:solidFill>
              </a:rPr>
              <a:t>Target Group / Who Benefits</a:t>
            </a:r>
            <a:endParaRPr lang="en-US" b="1">
              <a:latin typeface="+mj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4D92E7-96AB-3D0D-8FE0-E9666985240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62000" y="841905"/>
            <a:ext cx="6122126" cy="5434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Small &amp; medium-scale farmers</a:t>
            </a:r>
            <a:endParaRPr lang="en-US" altLang="en-US" sz="2400" b="1">
              <a:solidFill>
                <a:schemeClr val="tx1"/>
              </a:solidFill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Agricultural researchers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Smart farming solution developers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Educational &amp; research institutions</a:t>
            </a:r>
          </a:p>
          <a:p>
            <a:pPr marL="285750" lvl="0" indent="-285750" algn="l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b="1">
                <a:solidFill>
                  <a:schemeClr val="tx1"/>
                </a:solidFill>
                <a:latin typeface="+mj-lt"/>
              </a:rPr>
              <a:t>Urban growers</a:t>
            </a:r>
            <a:endParaRPr lang="en-US" altLang="en-US" sz="2400" b="1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E64B10-C90D-D4ED-A8E5-34A323A600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70"/>
          <a:stretch>
            <a:fillRect/>
          </a:stretch>
        </p:blipFill>
        <p:spPr>
          <a:xfrm>
            <a:off x="8324667" y="1142552"/>
            <a:ext cx="3265715" cy="2783352"/>
          </a:xfrm>
          <a:prstGeom prst="rect">
            <a:avLst/>
          </a:prstGeom>
        </p:spPr>
      </p:pic>
      <p:pic>
        <p:nvPicPr>
          <p:cNvPr id="10" name="Picture 9" descr="A person in a white coat holding a tablet&#10;&#10;AI-generated content may be incorrect.">
            <a:extLst>
              <a:ext uri="{FF2B5EF4-FFF2-40B4-BE49-F238E27FC236}">
                <a16:creationId xmlns:a16="http://schemas.microsoft.com/office/drawing/2014/main" id="{6DE61343-79F7-5D50-9095-8348A186AE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251" y="3997268"/>
            <a:ext cx="4542971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88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6F38F-0C3B-F7B4-4BB2-1BDBE820F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93987"/>
            <a:ext cx="10363200" cy="1470025"/>
          </a:xfrm>
        </p:spPr>
        <p:txBody>
          <a:bodyPr/>
          <a:lstStyle/>
          <a:p>
            <a:r>
              <a:rPr lang="en-GB" b="1">
                <a:solidFill>
                  <a:srgbClr val="00B050"/>
                </a:solidFill>
                <a:latin typeface="+mj-lt"/>
              </a:rPr>
              <a:t>What Is New / Design Excellence of Overall Solution</a:t>
            </a:r>
            <a:endParaRPr lang="en-US" b="1">
              <a:solidFill>
                <a:srgbClr val="00B05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22306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221F-2BEE-97C6-710F-2075698A8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latin typeface="Adobe Devanagari" pitchFamily="18" charset="0"/>
                <a:ea typeface="+mj-ea"/>
                <a:cs typeface="Adobe Devanagari" pitchFamily="18" charset="0"/>
              </a:rPr>
              <a:t>Our Approach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BA8D2-7967-41E9-2A96-1D23A0B7CA82}"/>
              </a:ext>
            </a:extLst>
          </p:cNvPr>
          <p:cNvSpPr txBox="1"/>
          <p:nvPr/>
        </p:nvSpPr>
        <p:spPr>
          <a:xfrm>
            <a:off x="609600" y="1924666"/>
            <a:ext cx="652272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/>
              <a:t>Dual NFT system (Organic + Inorganic)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/>
              <a:t>Real-time IoT-based monitoring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/>
              <a:t>Cloud dashboard + mobile control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/>
              <a:t>Plant growth tracking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88F97A-C922-18D7-FF59-6B805A73CC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583" y="2184921"/>
            <a:ext cx="4110446" cy="30828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52104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D65CD9C-8CD2-1624-CFE4-93454F809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590800"/>
            <a:ext cx="10363200" cy="1470025"/>
          </a:xfrm>
        </p:spPr>
        <p:txBody>
          <a:bodyPr/>
          <a:lstStyle/>
          <a:p>
            <a:r>
              <a:rPr lang="en-US" b="1">
                <a:solidFill>
                  <a:srgbClr val="00B050"/>
                </a:solidFill>
                <a:latin typeface="+mj-lt"/>
              </a:rPr>
              <a:t>INDIVIDUAL COMPONENTS</a:t>
            </a:r>
          </a:p>
        </p:txBody>
      </p:sp>
    </p:spTree>
    <p:extLst>
      <p:ext uri="{BB962C8B-B14F-4D97-AF65-F5344CB8AC3E}">
        <p14:creationId xmlns:p14="http://schemas.microsoft.com/office/powerpoint/2010/main" val="1335884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C0E0D-8610-BC28-3CA1-26337EAB6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114800"/>
            <a:ext cx="10363200" cy="1362075"/>
          </a:xfrm>
        </p:spPr>
        <p:txBody>
          <a:bodyPr/>
          <a:lstStyle/>
          <a:p>
            <a:r>
              <a:rPr lang="en-US"/>
              <a:t>IT22258762 | P.A.S.S. Weerasekara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1928C-025F-D48A-36FA-6FC3A874D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4191000"/>
            <a:ext cx="10363200" cy="1500187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Computer Systems &amp; Network Engineering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726410-DC81-046F-5E56-13276DE0798C}"/>
              </a:ext>
            </a:extLst>
          </p:cNvPr>
          <p:cNvSpPr txBox="1"/>
          <p:nvPr/>
        </p:nvSpPr>
        <p:spPr>
          <a:xfrm>
            <a:off x="835264" y="780960"/>
            <a:ext cx="876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00B050"/>
                </a:solidFill>
              </a:rPr>
              <a:t>INORGANIC NFT HYDROPONIC SYSTEM FOR CAPSICUM CHILI</a:t>
            </a:r>
          </a:p>
        </p:txBody>
      </p:sp>
      <p:pic>
        <p:nvPicPr>
          <p:cNvPr id="7" name="Picture 6" descr="A person in a white shirt&#10;&#10;AI-generated content may be incorrect.">
            <a:extLst>
              <a:ext uri="{FF2B5EF4-FFF2-40B4-BE49-F238E27FC236}">
                <a16:creationId xmlns:a16="http://schemas.microsoft.com/office/drawing/2014/main" id="{4BFC2383-31F2-8C58-DB96-55877FDA6B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5" t="11298" r="8271" b="16116"/>
          <a:stretch>
            <a:fillRect/>
          </a:stretch>
        </p:blipFill>
        <p:spPr>
          <a:xfrm>
            <a:off x="9960077" y="90338"/>
            <a:ext cx="2231923" cy="24045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32222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F6FBBB-4C77-4A4B-BE54-96D3B0DF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107272"/>
            <a:ext cx="11684000" cy="792162"/>
          </a:xfrm>
        </p:spPr>
        <p:txBody>
          <a:bodyPr>
            <a:noAutofit/>
          </a:bodyPr>
          <a:lstStyle/>
          <a:p>
            <a:r>
              <a:rPr lang="en-US" sz="2800" b="1">
                <a:solidFill>
                  <a:schemeClr val="accent1"/>
                </a:solidFill>
              </a:rPr>
              <a:t>INORGANIC NFT HYDROPONIC SYSTEM FOR CAPSICUM CHILI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918CEE-3EE9-4768-90C7-A115F59361EE}"/>
              </a:ext>
            </a:extLst>
          </p:cNvPr>
          <p:cNvSpPr/>
          <p:nvPr/>
        </p:nvSpPr>
        <p:spPr>
          <a:xfrm>
            <a:off x="3048000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IT22258762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P.A.S.S. WEERASEKARA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25-26J-035</a:t>
            </a:r>
            <a:r>
              <a:rPr lang="en-US" sz="1800">
                <a:solidFill>
                  <a:schemeClr val="tx1"/>
                </a:solidFill>
              </a:rPr>
              <a:t>  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EB63532-ADB5-2E55-C514-A9447CDB336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83458" y="966176"/>
            <a:ext cx="7185152" cy="524451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400" b="1"/>
              <a:t>How the Solution Addresses the Sub-Problem / Prototype</a:t>
            </a:r>
          </a:p>
          <a:p>
            <a:pPr>
              <a:lnSpc>
                <a:spcPct val="150000"/>
              </a:lnSpc>
            </a:pPr>
            <a:r>
              <a:rPr lang="en-GB" sz="1200"/>
              <a:t>maintaining stable nutrient strength and pH in an inorganic NFT system</a:t>
            </a:r>
            <a:endParaRPr lang="en-GB" sz="1200">
              <a:ea typeface="Cambria"/>
            </a:endParaRPr>
          </a:p>
          <a:p>
            <a:pPr lvl="1">
              <a:lnSpc>
                <a:spcPct val="150000"/>
              </a:lnSpc>
            </a:pPr>
            <a:r>
              <a:rPr lang="en-GB" sz="1200"/>
              <a:t>Manual monitoring causes delayed correction and nutrient stress</a:t>
            </a:r>
            <a:endParaRPr lang="en-GB" sz="1200">
              <a:ea typeface="Cambria"/>
            </a:endParaRPr>
          </a:p>
          <a:p>
            <a:pPr lvl="1">
              <a:lnSpc>
                <a:spcPct val="200000"/>
              </a:lnSpc>
            </a:pPr>
            <a:r>
              <a:rPr lang="en-GB" sz="1200"/>
              <a:t>Implemented a sensor-driven inorganic NFT prototype with real-time monitoring</a:t>
            </a:r>
            <a:endParaRPr lang="en-GB" sz="1200">
              <a:ea typeface="Cambria"/>
            </a:endParaRPr>
          </a:p>
          <a:p>
            <a:pPr lvl="1">
              <a:lnSpc>
                <a:spcPct val="200000"/>
              </a:lnSpc>
            </a:pPr>
            <a:r>
              <a:rPr lang="en-GB" sz="1200"/>
              <a:t>Ultrasonic sensor-based plant height monitoring for non-contact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GB" sz="1400" b="1"/>
              <a:t>Prototype Implementation</a:t>
            </a:r>
            <a:endParaRPr lang="en-GB" sz="1400" b="1">
              <a:ea typeface="Cambria"/>
            </a:endParaRPr>
          </a:p>
          <a:p>
            <a:pPr>
              <a:lnSpc>
                <a:spcPct val="150000"/>
              </a:lnSpc>
            </a:pPr>
            <a:r>
              <a:rPr lang="en-GB" sz="1200"/>
              <a:t>Constructed complete inorganic NFT setup</a:t>
            </a:r>
            <a:endParaRPr lang="en-GB" sz="1200">
              <a:ea typeface="Cambria"/>
            </a:endParaRPr>
          </a:p>
          <a:p>
            <a:pPr>
              <a:lnSpc>
                <a:spcPct val="150000"/>
              </a:lnSpc>
            </a:pPr>
            <a:r>
              <a:rPr lang="en-GB" sz="1200"/>
              <a:t>Integrated pH, EC, NPK, water-level, and ultrasonic sensors with ESP32</a:t>
            </a:r>
            <a:endParaRPr lang="en-GB" sz="1200">
              <a:ea typeface="Cambria"/>
            </a:endParaRPr>
          </a:p>
          <a:p>
            <a:pPr>
              <a:lnSpc>
                <a:spcPct val="200000"/>
              </a:lnSpc>
            </a:pPr>
            <a:r>
              <a:rPr lang="en-GB" sz="1200"/>
              <a:t>Safe power control and protection for pumps using relay isolation</a:t>
            </a:r>
            <a:endParaRPr lang="en-GB" sz="1200">
              <a:ea typeface="Cambria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GB" sz="1400" b="1"/>
              <a:t>User Requirements Addressed by the Solution</a:t>
            </a:r>
            <a:endParaRPr lang="en-GB" sz="1400" b="1">
              <a:ea typeface="Cambria"/>
            </a:endParaRPr>
          </a:p>
          <a:p>
            <a:pPr>
              <a:lnSpc>
                <a:spcPct val="150000"/>
              </a:lnSpc>
            </a:pPr>
            <a:r>
              <a:rPr lang="en-GB" sz="1200"/>
              <a:t>Real-time visibility of nutrient conditions</a:t>
            </a:r>
            <a:endParaRPr lang="en-GB" sz="1200">
              <a:ea typeface="Cambria"/>
            </a:endParaRPr>
          </a:p>
          <a:p>
            <a:pPr>
              <a:lnSpc>
                <a:spcPct val="150000"/>
              </a:lnSpc>
            </a:pPr>
            <a:r>
              <a:rPr lang="en-GB" sz="1200"/>
              <a:t>Reduced manual nutrient adjustment</a:t>
            </a:r>
            <a:endParaRPr lang="en-GB" sz="1200">
              <a:ea typeface="Cambria"/>
            </a:endParaRPr>
          </a:p>
          <a:p>
            <a:pPr>
              <a:lnSpc>
                <a:spcPct val="150000"/>
              </a:lnSpc>
            </a:pPr>
            <a:r>
              <a:rPr lang="en-GB" sz="1200"/>
              <a:t>Add growth monitoring without image processing</a:t>
            </a:r>
            <a:endParaRPr lang="en-GB" sz="1200">
              <a:ea typeface="Cambria"/>
            </a:endParaRPr>
          </a:p>
          <a:p>
            <a:pPr>
              <a:lnSpc>
                <a:spcPct val="150000"/>
              </a:lnSpc>
            </a:pPr>
            <a:r>
              <a:rPr lang="en-GB" sz="1200"/>
              <a:t>Remote monitoring and control via mobile app</a:t>
            </a:r>
            <a:endParaRPr lang="en-GB" sz="1200">
              <a:ea typeface="Cambria"/>
            </a:endParaRPr>
          </a:p>
          <a:p>
            <a:pPr algn="l">
              <a:buNone/>
            </a:pPr>
            <a:endParaRPr lang="en-US" sz="1000" b="0" i="0">
              <a:effectLst/>
              <a:latin typeface="fkGroteskNeu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3F6B0C-EB4E-A42F-241A-F80BF0A843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87" t="21519" r="2381" b="-1"/>
          <a:stretch>
            <a:fillRect/>
          </a:stretch>
        </p:blipFill>
        <p:spPr>
          <a:xfrm>
            <a:off x="6096000" y="3511513"/>
            <a:ext cx="2243027" cy="23803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CFBF89-4907-083D-4181-77EB46B46D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27" b="3655"/>
          <a:stretch>
            <a:fillRect/>
          </a:stretch>
        </p:blipFill>
        <p:spPr>
          <a:xfrm>
            <a:off x="8722442" y="898033"/>
            <a:ext cx="3086100" cy="499379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7212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461F4-E6D8-4801-94AA-9B72FC99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54496"/>
            <a:ext cx="6096000" cy="227450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600" b="1"/>
              <a:t>Design Excellence / Individual Contribution</a:t>
            </a:r>
          </a:p>
          <a:p>
            <a:pPr>
              <a:lnSpc>
                <a:spcPct val="150000"/>
              </a:lnSpc>
            </a:pPr>
            <a:r>
              <a:rPr lang="en-GB" sz="1400"/>
              <a:t>RS485 multi-parameter sensor for reliable nutrient monitoring</a:t>
            </a:r>
          </a:p>
          <a:p>
            <a:pPr>
              <a:lnSpc>
                <a:spcPct val="150000"/>
              </a:lnSpc>
            </a:pPr>
            <a:r>
              <a:rPr lang="en-GB" sz="1400"/>
              <a:t>Ultrasonic sensor-based plant growth tracking (non-contact)</a:t>
            </a:r>
          </a:p>
          <a:p>
            <a:pPr>
              <a:lnSpc>
                <a:spcPct val="150000"/>
              </a:lnSpc>
            </a:pPr>
            <a:r>
              <a:rPr lang="en-GB" sz="1400"/>
              <a:t>Cloud integration using Firebase for real-time data logging</a:t>
            </a:r>
          </a:p>
          <a:p>
            <a:pPr>
              <a:lnSpc>
                <a:spcPct val="150000"/>
              </a:lnSpc>
            </a:pPr>
            <a:r>
              <a:rPr lang="en-GB" sz="1400"/>
              <a:t>Mobile dashboard for live monitoring and pump control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400"/>
          </a:p>
          <a:p>
            <a:pPr marL="0" indent="0">
              <a:buNone/>
            </a:pPr>
            <a:endParaRPr lang="en-US">
              <a:highlight>
                <a:srgbClr val="FFFF00"/>
              </a:highligh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A87EE8-2430-48CE-B467-8BD3100BC4EF}"/>
              </a:ext>
            </a:extLst>
          </p:cNvPr>
          <p:cNvSpPr/>
          <p:nvPr/>
        </p:nvSpPr>
        <p:spPr>
          <a:xfrm>
            <a:off x="3429000" y="6457108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IT22258762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P.A.S.S. WEERASEKARA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25-26J-035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031CE154-33E3-BB16-1DB6-C0310E53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176204"/>
            <a:ext cx="11684000" cy="792162"/>
          </a:xfrm>
        </p:spPr>
        <p:txBody>
          <a:bodyPr>
            <a:noAutofit/>
          </a:bodyPr>
          <a:lstStyle/>
          <a:p>
            <a:r>
              <a:rPr lang="en-US" sz="2800" b="1">
                <a:solidFill>
                  <a:schemeClr val="accent1"/>
                </a:solidFill>
              </a:rPr>
              <a:t>INORGANIC NFT HYDROPONIC SYSTEM FOR CAPSICUM CHILI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82BE4E-1110-3CC9-86A9-75A2CE58E61B}"/>
              </a:ext>
            </a:extLst>
          </p:cNvPr>
          <p:cNvSpPr txBox="1"/>
          <p:nvPr/>
        </p:nvSpPr>
        <p:spPr>
          <a:xfrm>
            <a:off x="381000" y="3530528"/>
            <a:ext cx="7375963" cy="2360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/>
              <a:t>User Feedback on Prototype (Early Stage)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/>
              <a:t>System reduces need for frequent manual checking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/>
              <a:t>Mobile dashboard improves visibility and ease of monitoring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/>
              <a:t>Semi-Automated dosing reacts faster than manual adjustment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/>
              <a:t>LCD display helps users quickly verify system status on-site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/>
              <a:t>Relay-based pump control improves electrical safety and reliability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69C05B-E1CD-AF5F-EA94-4164229026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573" y="1243633"/>
            <a:ext cx="2447179" cy="18353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D1E00D-7706-3BDE-16B7-D6D38BD649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6" t="14121" r="8136" b="31756"/>
          <a:stretch>
            <a:fillRect/>
          </a:stretch>
        </p:blipFill>
        <p:spPr>
          <a:xfrm>
            <a:off x="9029363" y="1243634"/>
            <a:ext cx="1960056" cy="20041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D4ED56-AAFA-EF6A-5C8E-B6C84C3FFA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1" t="24659" r="8926" b="2570"/>
          <a:stretch>
            <a:fillRect/>
          </a:stretch>
        </p:blipFill>
        <p:spPr>
          <a:xfrm>
            <a:off x="8593744" y="3610253"/>
            <a:ext cx="2831294" cy="18353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8B87DD2-7A7D-BA8C-7EAB-130E835BF50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4" t="18142" r="12187" b="14462"/>
          <a:stretch>
            <a:fillRect/>
          </a:stretch>
        </p:blipFill>
        <p:spPr>
          <a:xfrm rot="10800000">
            <a:off x="6379406" y="3429000"/>
            <a:ext cx="1910516" cy="200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560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C9059-187F-145B-AB3C-EFA6CE013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54404-6C7D-2F83-F931-D36DAE6D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114800"/>
            <a:ext cx="10363200" cy="1362075"/>
          </a:xfrm>
        </p:spPr>
        <p:txBody>
          <a:bodyPr/>
          <a:lstStyle/>
          <a:p>
            <a:r>
              <a:rPr lang="en-US">
                <a:latin typeface="Adobe Devanagari"/>
              </a:rPr>
              <a:t>IT22355782 | D.S </a:t>
            </a:r>
            <a:r>
              <a:rPr lang="en-US" err="1">
                <a:latin typeface="Adobe Devanagari"/>
              </a:rPr>
              <a:t>Galappaththi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A0448-9EF7-B881-4E15-291A30CE5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4191000"/>
            <a:ext cx="10363200" cy="1500187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Computer Systems &amp; Network Engineering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3C113A-16D9-E5D2-A32D-BCB60DB85CE1}"/>
              </a:ext>
            </a:extLst>
          </p:cNvPr>
          <p:cNvSpPr txBox="1"/>
          <p:nvPr/>
        </p:nvSpPr>
        <p:spPr>
          <a:xfrm>
            <a:off x="963084" y="533400"/>
            <a:ext cx="8763000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>
                <a:solidFill>
                  <a:srgbClr val="00B050"/>
                </a:solidFill>
                <a:latin typeface="Cambria"/>
                <a:ea typeface="Cambria"/>
              </a:rPr>
              <a:t>Low-Power, Resilient Communication System for Hydroponic Monitoring</a:t>
            </a:r>
            <a:endParaRPr lang="en-US" b="1">
              <a:latin typeface="Cambria"/>
              <a:ea typeface="Cambria"/>
              <a:cs typeface="Times New Roman"/>
            </a:endParaRPr>
          </a:p>
        </p:txBody>
      </p:sp>
      <p:pic>
        <p:nvPicPr>
          <p:cNvPr id="6" name="Picture 5" descr="A person in a white shirt&#10;&#10;AI-generated content may be incorrect.">
            <a:extLst>
              <a:ext uri="{FF2B5EF4-FFF2-40B4-BE49-F238E27FC236}">
                <a16:creationId xmlns:a16="http://schemas.microsoft.com/office/drawing/2014/main" id="{BA7951FA-421C-7507-D3A3-F2F84CE40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013" y="131351"/>
            <a:ext cx="1983082" cy="229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786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472D5-EDDC-2541-CA5A-800DE90F3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57ECF6-C266-E8C3-A4C8-0EE33F28DDF1}"/>
              </a:ext>
            </a:extLst>
          </p:cNvPr>
          <p:cNvSpPr/>
          <p:nvPr/>
        </p:nvSpPr>
        <p:spPr>
          <a:xfrm>
            <a:off x="3607795" y="6675754"/>
            <a:ext cx="6816365" cy="30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IT22355782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>
                <a:solidFill>
                  <a:schemeClr val="tx1"/>
                </a:solidFill>
              </a:rPr>
              <a:t>D.S GALAPPATHTHI 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25-26J-035</a:t>
            </a:r>
          </a:p>
          <a:p>
            <a:endParaRPr lang="en-US" sz="1800" b="0">
              <a:solidFill>
                <a:schemeClr val="tx1"/>
              </a:solidFill>
              <a:ea typeface="Cambr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FDE173-999D-CDFC-EBE6-2177D1183F7B}"/>
              </a:ext>
            </a:extLst>
          </p:cNvPr>
          <p:cNvSpPr txBox="1"/>
          <p:nvPr/>
        </p:nvSpPr>
        <p:spPr>
          <a:xfrm>
            <a:off x="595935" y="1036320"/>
            <a:ext cx="5708463" cy="24222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Cambria"/>
                <a:ea typeface="Cambria"/>
                <a:cs typeface="Calibri"/>
              </a:rPr>
              <a:t>How the Solution will address the Sub-Problem / Prototype</a:t>
            </a:r>
            <a:endParaRPr lang="en-US" sz="1600" b="1"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Flask ML server reads Firebase sensor data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Generates predictions and writes results </a:t>
            </a:r>
            <a:endParaRPr lang="en-US" sz="1600"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UDP gateway supports lightweight ingestion </a:t>
            </a:r>
            <a:endParaRPr lang="en-US" sz="1600">
              <a:ea typeface="+mn-lt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(ESP32 → Gateway → Firebase)</a:t>
            </a:r>
            <a:endParaRPr lang="en-US" sz="1600">
              <a:latin typeface="Cambria"/>
              <a:ea typeface="Cambria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1400">
              <a:latin typeface="Cambria"/>
              <a:ea typeface="Calibri"/>
              <a:cs typeface="Calibri"/>
            </a:endParaRPr>
          </a:p>
          <a:p>
            <a:pPr marL="283210" indent="-283210">
              <a:lnSpc>
                <a:spcPct val="150000"/>
              </a:lnSpc>
              <a:buFont typeface="Arial"/>
              <a:buChar char="•"/>
            </a:pPr>
            <a:endParaRPr lang="en-US" sz="1400">
              <a:latin typeface="Cambria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695CE-4C7A-2CAE-C2AD-9DD71360FD30}"/>
              </a:ext>
            </a:extLst>
          </p:cNvPr>
          <p:cNvSpPr txBox="1"/>
          <p:nvPr/>
        </p:nvSpPr>
        <p:spPr>
          <a:xfrm>
            <a:off x="5967484" y="3080045"/>
            <a:ext cx="6006817" cy="33302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>
                <a:latin typeface="Cambria"/>
                <a:ea typeface="Cambria"/>
                <a:cs typeface="Calibri"/>
              </a:rPr>
              <a:t>User Requirements </a:t>
            </a:r>
            <a:endParaRPr lang="en-US" sz="1600" b="1"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Predictions for decision support:</a:t>
            </a:r>
            <a:endParaRPr lang="en-US" sz="1600" b="1">
              <a:latin typeface="Calibri"/>
              <a:ea typeface="Calibri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Battery prediction for power planning</a:t>
            </a:r>
            <a:endParaRPr lang="en-US" sz="1600">
              <a:ea typeface="Cambria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Sleep interval prediction for energy-saving scheduling</a:t>
            </a:r>
            <a:endParaRPr lang="en-US" sz="1600">
              <a:ea typeface="Cambria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Stability prediction for detect inconsistent readings</a:t>
            </a:r>
            <a:endParaRPr lang="en-US" sz="1600"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Energy-efficient architecture option:</a:t>
            </a:r>
            <a:r>
              <a:rPr lang="en-US" sz="1600">
                <a:ea typeface="+mn-lt"/>
                <a:cs typeface="+mn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UDP gateway supports deployment where sensor nodes must remain lightweight.</a:t>
            </a:r>
            <a:endParaRPr lang="en-US" sz="1600">
              <a:ea typeface="Cambria"/>
            </a:endParaRPr>
          </a:p>
          <a:p>
            <a:pPr>
              <a:lnSpc>
                <a:spcPct val="150000"/>
              </a:lnSpc>
            </a:pPr>
            <a:endParaRPr lang="en-US" sz="1400" b="1">
              <a:latin typeface="Cambria"/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1936EB-36F3-73CA-5F85-FF348E469E3B}"/>
              </a:ext>
            </a:extLst>
          </p:cNvPr>
          <p:cNvSpPr txBox="1"/>
          <p:nvPr/>
        </p:nvSpPr>
        <p:spPr>
          <a:xfrm>
            <a:off x="1290697" y="312325"/>
            <a:ext cx="103349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0070C0"/>
                </a:solidFill>
                <a:latin typeface="Cambria"/>
                <a:ea typeface="Cambria"/>
              </a:rPr>
              <a:t>Low-Power, Resilient Communication System for Hydroponic Monitoring</a:t>
            </a:r>
            <a:endParaRPr lang="en-US" sz="2400">
              <a:latin typeface="Cambria"/>
              <a:ea typeface="Cambria"/>
            </a:endParaRPr>
          </a:p>
        </p:txBody>
      </p:sp>
      <p:pic>
        <p:nvPicPr>
          <p:cNvPr id="11" name="Picture 10" descr="A solar panel on a farm&#10;&#10;AI-generated content may be incorrect.">
            <a:extLst>
              <a:ext uri="{FF2B5EF4-FFF2-40B4-BE49-F238E27FC236}">
                <a16:creationId xmlns:a16="http://schemas.microsoft.com/office/drawing/2014/main" id="{E96A5474-AC56-D79E-248E-DF60B3481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60" y="3076860"/>
            <a:ext cx="4572941" cy="2974978"/>
          </a:xfrm>
          <a:prstGeom prst="rect">
            <a:avLst/>
          </a:prstGeom>
        </p:spPr>
      </p:pic>
      <p:pic>
        <p:nvPicPr>
          <p:cNvPr id="2" name="Picture 1" descr="A blue circuit board with wires&#10;&#10;AI-generated content may be incorrect.">
            <a:extLst>
              <a:ext uri="{FF2B5EF4-FFF2-40B4-BE49-F238E27FC236}">
                <a16:creationId xmlns:a16="http://schemas.microsoft.com/office/drawing/2014/main" id="{90A118A2-9D05-BB0A-0432-29BB8BE2A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219" y="1030941"/>
            <a:ext cx="1333501" cy="1770531"/>
          </a:xfrm>
          <a:prstGeom prst="rect">
            <a:avLst/>
          </a:prstGeom>
        </p:spPr>
      </p:pic>
      <p:pic>
        <p:nvPicPr>
          <p:cNvPr id="5" name="Picture 4" descr="A blue rectangular object with wires connected to it&#10;&#10;AI-generated content may be incorrect.">
            <a:extLst>
              <a:ext uri="{FF2B5EF4-FFF2-40B4-BE49-F238E27FC236}">
                <a16:creationId xmlns:a16="http://schemas.microsoft.com/office/drawing/2014/main" id="{424658F8-9D6C-C04F-B1D5-6A549A06E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5867" y="1030940"/>
            <a:ext cx="1333501" cy="1770532"/>
          </a:xfrm>
          <a:prstGeom prst="rect">
            <a:avLst/>
          </a:prstGeom>
        </p:spPr>
      </p:pic>
      <p:pic>
        <p:nvPicPr>
          <p:cNvPr id="7" name="Picture 6" descr="A black rectangle with red and black wires&#10;&#10;AI-generated content may be incorrect.">
            <a:extLst>
              <a:ext uri="{FF2B5EF4-FFF2-40B4-BE49-F238E27FC236}">
                <a16:creationId xmlns:a16="http://schemas.microsoft.com/office/drawing/2014/main" id="{C047223F-E521-2E6A-CE7E-5261715189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8103" y="1030941"/>
            <a:ext cx="1355913" cy="177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970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28B18-8D22-9189-4F63-A1B627745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06F29B-22FA-D032-9543-F30950D4740C}"/>
              </a:ext>
            </a:extLst>
          </p:cNvPr>
          <p:cNvSpPr/>
          <p:nvPr/>
        </p:nvSpPr>
        <p:spPr>
          <a:xfrm>
            <a:off x="3607795" y="6675754"/>
            <a:ext cx="6816365" cy="3086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IT22355782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>
                <a:solidFill>
                  <a:schemeClr val="tx1"/>
                </a:solidFill>
              </a:rPr>
              <a:t>D.S GALAPPATHTHI 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25-26J-035</a:t>
            </a:r>
          </a:p>
          <a:p>
            <a:endParaRPr lang="en-US" sz="1800" b="0">
              <a:solidFill>
                <a:schemeClr val="tx1"/>
              </a:solidFill>
              <a:ea typeface="Cambr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48AE59-BBB3-7F37-8A9C-0E916609919C}"/>
              </a:ext>
            </a:extLst>
          </p:cNvPr>
          <p:cNvSpPr txBox="1"/>
          <p:nvPr/>
        </p:nvSpPr>
        <p:spPr>
          <a:xfrm>
            <a:off x="471816" y="4121208"/>
            <a:ext cx="5461517" cy="22991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/>
              <a:t>User feedback on prototype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Predictions improve decision making, not just monitoring</a:t>
            </a:r>
            <a:endParaRPr lang="en-US" sz="1600" err="1"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System feels more “smart” and useful</a:t>
            </a:r>
            <a:endParaRPr lang="en-US" sz="1600"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Need clearer warning/alert display (next step)</a:t>
            </a:r>
            <a:endParaRPr lang="en-US" sz="1600">
              <a:ea typeface="Cambria"/>
            </a:endParaRPr>
          </a:p>
          <a:p>
            <a:endParaRPr lang="en-US" sz="1400" b="1">
              <a:ea typeface="Cambria"/>
            </a:endParaRPr>
          </a:p>
          <a:p>
            <a:pPr>
              <a:lnSpc>
                <a:spcPct val="150000"/>
              </a:lnSpc>
            </a:pPr>
            <a:endParaRPr lang="en-US" sz="1400" b="1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1400" b="1">
              <a:latin typeface="Cambria"/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AECA8C-ED76-40FF-0CCE-7A4BFDD452EE}"/>
              </a:ext>
            </a:extLst>
          </p:cNvPr>
          <p:cNvSpPr txBox="1"/>
          <p:nvPr/>
        </p:nvSpPr>
        <p:spPr>
          <a:xfrm>
            <a:off x="1403585" y="302918"/>
            <a:ext cx="997749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0070C0"/>
                </a:solidFill>
                <a:latin typeface="Cambria"/>
                <a:ea typeface="Cambria"/>
              </a:rPr>
              <a:t>Low-Power, Resilient Communication System for Hydroponic Monitoring</a:t>
            </a:r>
            <a:endParaRPr lang="en-US" sz="2400">
              <a:latin typeface="Cambria"/>
              <a:ea typeface="Cambria"/>
            </a:endParaRPr>
          </a:p>
        </p:txBody>
      </p:sp>
      <p:pic>
        <p:nvPicPr>
          <p:cNvPr id="2" name="Picture 1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DD4DB89B-3907-D9D0-53D2-8B1712CD12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88" t="5793" r="-339" b="184"/>
          <a:stretch>
            <a:fillRect/>
          </a:stretch>
        </p:blipFill>
        <p:spPr>
          <a:xfrm>
            <a:off x="6023088" y="1176174"/>
            <a:ext cx="2484080" cy="47752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BBDAC969-278D-09C4-2F3F-AE11B51A5C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040" r="-567" b="18280"/>
          <a:stretch>
            <a:fillRect/>
          </a:stretch>
        </p:blipFill>
        <p:spPr>
          <a:xfrm>
            <a:off x="8888467" y="1177524"/>
            <a:ext cx="2823310" cy="4768407"/>
          </a:xfrm>
          <a:prstGeom prst="rect">
            <a:avLst/>
          </a:prstGeom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FE16F3A8-A524-100B-CB02-450BBB899782}"/>
              </a:ext>
            </a:extLst>
          </p:cNvPr>
          <p:cNvSpPr txBox="1"/>
          <p:nvPr/>
        </p:nvSpPr>
        <p:spPr>
          <a:xfrm>
            <a:off x="552188" y="1081906"/>
            <a:ext cx="4749548" cy="333020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b="1">
                <a:ea typeface="Cambria"/>
              </a:rPr>
              <a:t>Design Excellence / Contribution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Cambria"/>
              </a:rPr>
              <a:t>Separated responsibilities clearly:</a:t>
            </a:r>
            <a:endParaRPr lang="en-US">
              <a:ea typeface="Cambria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Cambria"/>
              </a:rPr>
              <a:t>ESP32 → sensing only</a:t>
            </a:r>
            <a:endParaRPr lang="en-US">
              <a:ea typeface="Cambria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Cambria"/>
              </a:rPr>
              <a:t>Gateway  → ingestion + forwarding</a:t>
            </a:r>
            <a:endParaRPr lang="en-US">
              <a:ea typeface="Cambria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Cambria"/>
              </a:rPr>
              <a:t>Firebase → central storage</a:t>
            </a:r>
            <a:endParaRPr lang="en-US">
              <a:ea typeface="Cambria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Cambria"/>
              </a:rPr>
              <a:t>Flask ML server → prediction + write-back</a:t>
            </a:r>
            <a:endParaRPr lang="en-US">
              <a:ea typeface="Cambria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Cambria"/>
              </a:rPr>
              <a:t>Dashboard → visualization</a:t>
            </a:r>
            <a:endParaRPr lang="en-US"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160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1400" b="1">
              <a:latin typeface="Cambria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5339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74F89-E83B-5596-D59F-B557B4D4D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A215FD-8CC4-1E6E-2697-7B5A9F3BC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227737"/>
            <a:ext cx="10363200" cy="800100"/>
          </a:xfrm>
        </p:spPr>
        <p:txBody>
          <a:bodyPr/>
          <a:lstStyle/>
          <a:p>
            <a:r>
              <a:rPr lang="en-US">
                <a:latin typeface="Adobe Devanagari"/>
              </a:rPr>
              <a:t>IT22167682 | D.M.I.P Dissanayaka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415213-15F4-1410-12F6-B841AE3F6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5027836"/>
            <a:ext cx="10363200" cy="471487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  <a:ea typeface="Cambria"/>
              </a:rPr>
              <a:t>Computer Systems &amp; Network Engineering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D98B4-E7E7-5401-A66A-1FD751D4496D}"/>
              </a:ext>
            </a:extLst>
          </p:cNvPr>
          <p:cNvSpPr txBox="1"/>
          <p:nvPr/>
        </p:nvSpPr>
        <p:spPr>
          <a:xfrm>
            <a:off x="963084" y="838200"/>
            <a:ext cx="8763000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>
                <a:solidFill>
                  <a:srgbClr val="00B050"/>
                </a:solidFill>
              </a:rPr>
              <a:t>ORGANIC NFT HYDROPONIC SYSTEM FOR CAPSICUM CHILI</a:t>
            </a:r>
          </a:p>
        </p:txBody>
      </p:sp>
      <p:pic>
        <p:nvPicPr>
          <p:cNvPr id="7" name="Picture 6" descr="A person with a mustache and beard&#10;&#10;AI-generated content may be incorrect.">
            <a:extLst>
              <a:ext uri="{FF2B5EF4-FFF2-40B4-BE49-F238E27FC236}">
                <a16:creationId xmlns:a16="http://schemas.microsoft.com/office/drawing/2014/main" id="{F2AE3E6E-34EE-ABC7-D1E1-AFFE7BAC73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45" t="-6173" r="245" b="6172"/>
          <a:stretch>
            <a:fillRect/>
          </a:stretch>
        </p:blipFill>
        <p:spPr>
          <a:xfrm>
            <a:off x="9979192" y="-515"/>
            <a:ext cx="2134984" cy="246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940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453F8-8BCF-D240-7B26-C8EA23D65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AF07F2-62FB-1E1F-7777-38FA179E9B27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IT22167682</a:t>
            </a:r>
            <a:r>
              <a:rPr lang="en-US" sz="1800">
                <a:solidFill>
                  <a:schemeClr val="tx1"/>
                </a:solidFill>
              </a:rPr>
              <a:t>   |</a:t>
            </a:r>
            <a:r>
              <a:rPr lang="en-US">
                <a:solidFill>
                  <a:schemeClr val="tx1"/>
                </a:solidFill>
              </a:rPr>
              <a:t> D.M.I.P DISSANAYAKA</a:t>
            </a:r>
            <a:r>
              <a:rPr lang="en-US" b="1">
                <a:solidFill>
                  <a:schemeClr val="tx1"/>
                </a:solidFill>
              </a:rPr>
              <a:t>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25-26J-035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1F0107-44C8-ECC5-5F9C-D1DAA1344EFD}"/>
              </a:ext>
            </a:extLst>
          </p:cNvPr>
          <p:cNvSpPr txBox="1"/>
          <p:nvPr/>
        </p:nvSpPr>
        <p:spPr>
          <a:xfrm>
            <a:off x="304165" y="1276350"/>
            <a:ext cx="7091045" cy="47859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Cambria"/>
                <a:ea typeface="Cambria"/>
                <a:cs typeface="Times New Roman"/>
              </a:rPr>
              <a:t>How the Solution Addresses the Sub-Problem</a:t>
            </a:r>
            <a:r>
              <a:rPr lang="en-US" b="1"/>
              <a:t>/ Prototype</a:t>
            </a:r>
            <a:endParaRPr lang="en-US" sz="1600">
              <a:latin typeface="Cambria"/>
              <a:ea typeface="Cambria"/>
              <a:cs typeface="Times New Roman"/>
            </a:endParaRPr>
          </a:p>
          <a:p>
            <a:pPr marL="5143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400">
                <a:cs typeface="Arial"/>
              </a:rPr>
              <a:t>Addresses the problem of manual monitoring in organic NFT systems by introducing real-time sensor-based monitoring.</a:t>
            </a:r>
            <a:endParaRPr lang="en-US" sz="1400">
              <a:ea typeface="Cambria"/>
              <a:cs typeface="Arial"/>
            </a:endParaRPr>
          </a:p>
          <a:p>
            <a:pPr marL="5143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400">
                <a:cs typeface="Arial"/>
              </a:rPr>
              <a:t>Replaces guesswork with continuous sensing of pH, EC, water level, temperature, gas, and color indicators.</a:t>
            </a:r>
            <a:endParaRPr lang="en-US" sz="1400">
              <a:ea typeface="Cambria"/>
              <a:cs typeface="Arial"/>
            </a:endParaRPr>
          </a:p>
          <a:p>
            <a:pPr marL="5143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400">
                <a:cs typeface="Arial"/>
              </a:rPr>
              <a:t>Implements a functional NFT structure with stable water flow and grow channels.</a:t>
            </a:r>
            <a:endParaRPr lang="en-US" sz="1400">
              <a:ea typeface="Cambria"/>
              <a:cs typeface="Arial"/>
            </a:endParaRPr>
          </a:p>
          <a:p>
            <a:pPr marL="5143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400">
                <a:cs typeface="Arial"/>
              </a:rPr>
              <a:t>Lays the groundwork for future compost classification and automated nutrient management.</a:t>
            </a:r>
            <a:endParaRPr lang="en-US" sz="1400">
              <a:ea typeface="Cambria"/>
              <a:cs typeface="Arial"/>
            </a:endParaRPr>
          </a:p>
          <a:p>
            <a:pPr marL="514350" indent="-285750">
              <a:lnSpc>
                <a:spcPct val="150000"/>
              </a:lnSpc>
              <a:buFont typeface="Arial,Sans-Serif"/>
              <a:buChar char="•"/>
            </a:pPr>
            <a:endParaRPr lang="en-US" sz="1400">
              <a:ea typeface="+mn-lt"/>
              <a:cs typeface="+mn-lt"/>
            </a:endParaRPr>
          </a:p>
          <a:p>
            <a:pPr marL="514350" indent="-285750">
              <a:lnSpc>
                <a:spcPct val="150000"/>
              </a:lnSpc>
              <a:buFont typeface="Arial,Sans-Serif"/>
              <a:buChar char="•"/>
            </a:pPr>
            <a:endParaRPr lang="en-US" sz="1400">
              <a:ea typeface="Cambria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US" sz="1400">
              <a:latin typeface="Cambria"/>
              <a:ea typeface="Cambria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1400">
              <a:latin typeface="Calibri"/>
              <a:ea typeface="Calibri"/>
              <a:cs typeface="Times New Roman"/>
            </a:endParaRPr>
          </a:p>
          <a:p>
            <a:endParaRPr lang="en-US" sz="1200">
              <a:latin typeface="Cambria"/>
              <a:ea typeface="Cambria"/>
              <a:cs typeface="Times New Roman"/>
            </a:endParaRPr>
          </a:p>
          <a:p>
            <a:endParaRPr lang="en-US" sz="1600" b="1">
              <a:latin typeface="Calibri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latin typeface="Calibri"/>
              <a:ea typeface="Calibri"/>
              <a:cs typeface="Times New Roman"/>
            </a:endParaRPr>
          </a:p>
          <a:p>
            <a:endParaRPr lang="en-US" sz="1200" b="1">
              <a:latin typeface="Times New Roman"/>
              <a:cs typeface="Times New Roman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9B80F9B-3A63-8EFD-C17B-088866E2A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>
            <a:noAutofit/>
          </a:bodyPr>
          <a:lstStyle/>
          <a:p>
            <a:r>
              <a:rPr lang="en-US" sz="2800" b="1">
                <a:solidFill>
                  <a:schemeClr val="accent1"/>
                </a:solidFill>
                <a:latin typeface="Adobe Devanagari"/>
              </a:rPr>
              <a:t>ORGANIC NFT HYDROPONIC SYSTEM FOR CAPSICUM CHILI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43DC47-F785-C3FF-F8BC-6FF4F7E61B19}"/>
              </a:ext>
            </a:extLst>
          </p:cNvPr>
          <p:cNvSpPr txBox="1"/>
          <p:nvPr/>
        </p:nvSpPr>
        <p:spPr>
          <a:xfrm>
            <a:off x="7278370" y="4293870"/>
            <a:ext cx="5454015" cy="17143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>
                <a:cs typeface="Segoe UI"/>
              </a:rPr>
              <a:t>User Requirements Addressed</a:t>
            </a:r>
            <a:endParaRPr lang="en-US" sz="1600">
              <a:ea typeface="Cambria"/>
              <a:cs typeface="Arial"/>
            </a:endParaRPr>
          </a:p>
          <a:p>
            <a:pPr marL="5143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400">
                <a:cs typeface="Arial"/>
              </a:rPr>
              <a:t>Real-time viewing of nutrient and environment data</a:t>
            </a:r>
            <a:endParaRPr lang="en-US" sz="1400">
              <a:ea typeface="Cambria"/>
              <a:cs typeface="Arial"/>
            </a:endParaRPr>
          </a:p>
          <a:p>
            <a:pPr marL="5143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400">
                <a:cs typeface="Arial"/>
              </a:rPr>
              <a:t>Reduced manual monitoring and intervention</a:t>
            </a:r>
          </a:p>
          <a:p>
            <a:pPr marL="5143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400">
                <a:cs typeface="Arial"/>
              </a:rPr>
              <a:t>Remote access via mobile dashboard</a:t>
            </a:r>
            <a:endParaRPr lang="en-US" sz="1400">
              <a:ea typeface="Cambria"/>
              <a:cs typeface="Arial"/>
            </a:endParaRPr>
          </a:p>
          <a:p>
            <a:pPr marL="5143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400">
                <a:ea typeface="+mn-lt"/>
                <a:cs typeface="+mn-lt"/>
              </a:rPr>
              <a:t>Safer and more stable plant growth conditions</a:t>
            </a:r>
            <a:endParaRPr lang="en-US"/>
          </a:p>
        </p:txBody>
      </p:sp>
      <p:pic>
        <p:nvPicPr>
          <p:cNvPr id="8" name="Picture 7" descr="A diagram of a plant growing&#10;&#10;AI-generated content may be incorrect.">
            <a:extLst>
              <a:ext uri="{FF2B5EF4-FFF2-40B4-BE49-F238E27FC236}">
                <a16:creationId xmlns:a16="http://schemas.microsoft.com/office/drawing/2014/main" id="{CB8E7810-0327-C0AE-E757-7219DDAD5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690" y="1581150"/>
            <a:ext cx="4184015" cy="19977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" name="Picture 1" descr="A white and black device&#10;&#10;AI-generated content may be incorrect.">
            <a:extLst>
              <a:ext uri="{FF2B5EF4-FFF2-40B4-BE49-F238E27FC236}">
                <a16:creationId xmlns:a16="http://schemas.microsoft.com/office/drawing/2014/main" id="{1A6659F3-1FFA-56AE-24A1-07FC3DE33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65" y="4155440"/>
            <a:ext cx="1371629" cy="1910080"/>
          </a:xfrm>
          <a:prstGeom prst="rect">
            <a:avLst/>
          </a:prstGeom>
        </p:spPr>
      </p:pic>
      <p:pic>
        <p:nvPicPr>
          <p:cNvPr id="5" name="Picture 4" descr="A black box with blue label and silver metal rods&#10;&#10;AI-generated content may be incorrect.">
            <a:extLst>
              <a:ext uri="{FF2B5EF4-FFF2-40B4-BE49-F238E27FC236}">
                <a16:creationId xmlns:a16="http://schemas.microsoft.com/office/drawing/2014/main" id="{DA309120-3B6C-0713-5990-7D322936B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939" y="4155440"/>
            <a:ext cx="1350450" cy="1910080"/>
          </a:xfrm>
          <a:prstGeom prst="rect">
            <a:avLst/>
          </a:prstGeom>
        </p:spPr>
      </p:pic>
      <p:pic>
        <p:nvPicPr>
          <p:cNvPr id="9" name="Picture 8" descr="A black circuit board with white lights and small round lights&#10;&#10;AI-generated content may be incorrect.">
            <a:extLst>
              <a:ext uri="{FF2B5EF4-FFF2-40B4-BE49-F238E27FC236}">
                <a16:creationId xmlns:a16="http://schemas.microsoft.com/office/drawing/2014/main" id="{C9A2F1B4-905F-C04D-F004-C4460C01E9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4429" y="4155440"/>
            <a:ext cx="1366582" cy="1910080"/>
          </a:xfrm>
          <a:prstGeom prst="rect">
            <a:avLst/>
          </a:prstGeom>
        </p:spPr>
      </p:pic>
      <p:pic>
        <p:nvPicPr>
          <p:cNvPr id="13" name="Picture 12" descr="A blue device with a round metal object&#10;&#10;AI-generated content may be incorrect.">
            <a:extLst>
              <a:ext uri="{FF2B5EF4-FFF2-40B4-BE49-F238E27FC236}">
                <a16:creationId xmlns:a16="http://schemas.microsoft.com/office/drawing/2014/main" id="{B8942869-3BDE-E72B-6EF0-8699C2C487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7392" y="4152900"/>
            <a:ext cx="1402080" cy="191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629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F1023-5B24-9F5F-D0A2-CC783AFAA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E842C0-0E79-42F3-B650-77D586A82C0D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IT22167682</a:t>
            </a:r>
            <a:r>
              <a:rPr lang="en-US" sz="1800">
                <a:solidFill>
                  <a:schemeClr val="tx1"/>
                </a:solidFill>
              </a:rPr>
              <a:t>   |  </a:t>
            </a:r>
            <a:r>
              <a:rPr lang="en-US">
                <a:solidFill>
                  <a:schemeClr val="tx1"/>
                </a:solidFill>
              </a:rPr>
              <a:t> D.M.I.P DISSANAYAKA</a:t>
            </a:r>
            <a:r>
              <a:rPr lang="en-US" b="1">
                <a:solidFill>
                  <a:schemeClr val="tx1"/>
                </a:solidFill>
              </a:rPr>
              <a:t>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25-26J-035</a:t>
            </a:r>
            <a:endParaRPr lang="en-US" sz="1800" b="0">
              <a:solidFill>
                <a:schemeClr val="tx1"/>
              </a:solidFill>
              <a:ea typeface="Cambri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972186-921B-6CE2-730F-0D83CF78A0B5}"/>
              </a:ext>
            </a:extLst>
          </p:cNvPr>
          <p:cNvSpPr txBox="1"/>
          <p:nvPr/>
        </p:nvSpPr>
        <p:spPr>
          <a:xfrm>
            <a:off x="654685" y="1461770"/>
            <a:ext cx="5758180" cy="48782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Cambria"/>
                <a:ea typeface="Cambria"/>
                <a:cs typeface="Times New Roman"/>
              </a:rPr>
              <a:t>Design Excellence / Contribution</a:t>
            </a:r>
          </a:p>
          <a:p>
            <a:endParaRPr lang="en-US" sz="1000">
              <a:latin typeface="Cambria"/>
              <a:ea typeface="Cambria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400">
                <a:ea typeface="+mn-lt"/>
                <a:cs typeface="+mn-lt"/>
              </a:rPr>
              <a:t>Integration of multiple sensors with ESP32 for organic NFT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400">
                <a:ea typeface="+mn-lt"/>
                <a:cs typeface="+mn-lt"/>
              </a:rPr>
              <a:t>Real-time data upload to Firebase cloud dashboard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400">
                <a:ea typeface="+mn-lt"/>
                <a:cs typeface="+mn-lt"/>
              </a:rPr>
              <a:t>Working hydroponic structure with water flow and grow channels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400">
                <a:ea typeface="+mn-lt"/>
                <a:cs typeface="+mn-lt"/>
              </a:rPr>
              <a:t>Designed for future automation (fuzzy logic &amp; compost classification)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endParaRPr lang="en-US" sz="1400">
              <a:latin typeface="Cambria"/>
              <a:ea typeface="Cambria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US" sz="1400">
              <a:latin typeface="Cambria"/>
              <a:ea typeface="Cambria"/>
              <a:cs typeface="Times New Roman"/>
            </a:endParaRPr>
          </a:p>
          <a:p>
            <a:r>
              <a:rPr lang="en-US" sz="1600" b="1">
                <a:latin typeface="Cambria"/>
                <a:ea typeface="Cambria"/>
                <a:cs typeface="Times New Roman"/>
              </a:rPr>
              <a:t>User Feedback on Prototype</a:t>
            </a:r>
          </a:p>
          <a:p>
            <a:endParaRPr lang="en-US" sz="1000">
              <a:latin typeface="Cambria"/>
              <a:ea typeface="Cambria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400">
                <a:ea typeface="+mn-lt"/>
                <a:cs typeface="+mn-lt"/>
              </a:rPr>
              <a:t>Sensor readings are clear and easy to understand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400">
                <a:ea typeface="+mn-lt"/>
                <a:cs typeface="+mn-lt"/>
              </a:rPr>
              <a:t>Mobile dashboard improves monitoring convenience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400">
                <a:ea typeface="+mn-lt"/>
                <a:cs typeface="+mn-lt"/>
              </a:rPr>
              <a:t>System structure and water circulation work reliably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 sz="1400">
                <a:ea typeface="+mn-lt"/>
                <a:cs typeface="+mn-lt"/>
              </a:rPr>
              <a:t>Users prefer automated control in next stage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endParaRPr lang="en-US" sz="1400">
              <a:ea typeface="Cambria"/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latin typeface="Calibri"/>
              <a:ea typeface="Calibri"/>
              <a:cs typeface="Times New Roman"/>
            </a:endParaRPr>
          </a:p>
          <a:p>
            <a:endParaRPr lang="en-US" sz="1200" b="1">
              <a:latin typeface="Times New Roman"/>
              <a:cs typeface="Times New Roman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A0266B4-AAB2-6300-313C-688AD3332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>
            <a:noAutofit/>
          </a:bodyPr>
          <a:lstStyle/>
          <a:p>
            <a:r>
              <a:rPr lang="en-US" sz="2800" b="1">
                <a:solidFill>
                  <a:schemeClr val="accent1"/>
                </a:solidFill>
                <a:latin typeface="Adobe Devanagari"/>
              </a:rPr>
              <a:t>ORGANIC NFT HYDROPONIC SYSTEM FOR CAPSICUM CHILI</a:t>
            </a:r>
          </a:p>
        </p:txBody>
      </p:sp>
      <p:pic>
        <p:nvPicPr>
          <p:cNvPr id="13" name="Picture 12" descr="A wooden shelf with a black tube on top&#10;&#10;AI-generated content may be incorrect.">
            <a:extLst>
              <a:ext uri="{FF2B5EF4-FFF2-40B4-BE49-F238E27FC236}">
                <a16:creationId xmlns:a16="http://schemas.microsoft.com/office/drawing/2014/main" id="{450D61F4-B230-65E7-2578-4C3EE0B8C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4652" y="1960880"/>
            <a:ext cx="2653015" cy="3454400"/>
          </a:xfrm>
          <a:prstGeom prst="rect">
            <a:avLst/>
          </a:prstGeom>
        </p:spPr>
      </p:pic>
      <p:pic>
        <p:nvPicPr>
          <p:cNvPr id="5" name="Picture 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CC2A65CD-6AF0-2199-45FC-689997F78B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040" r="-567" b="18280"/>
          <a:stretch>
            <a:fillRect/>
          </a:stretch>
        </p:blipFill>
        <p:spPr>
          <a:xfrm>
            <a:off x="6643107" y="1959844"/>
            <a:ext cx="2579470" cy="353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21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579A4-4A45-AACD-EF35-4F86E7A0F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029F1-6F3D-9D81-6936-7531D9361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114800"/>
            <a:ext cx="10363200" cy="1362075"/>
          </a:xfrm>
        </p:spPr>
        <p:txBody>
          <a:bodyPr/>
          <a:lstStyle/>
          <a:p>
            <a:r>
              <a:rPr lang="en-US">
                <a:latin typeface="Adobe Devanagari"/>
              </a:rPr>
              <a:t>IT22617996 | K.S.T.S.A KARIYAWASAM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76E69-8D25-92B9-86DC-284155C0F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4191000"/>
            <a:ext cx="10363200" cy="1500187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Computer Systems &amp; Network Engineering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1C820B-79D6-AB52-6B23-D29CCD552161}"/>
              </a:ext>
            </a:extLst>
          </p:cNvPr>
          <p:cNvSpPr txBox="1"/>
          <p:nvPr/>
        </p:nvSpPr>
        <p:spPr>
          <a:xfrm>
            <a:off x="963084" y="533400"/>
            <a:ext cx="8763000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>
                <a:solidFill>
                  <a:srgbClr val="00B050"/>
                </a:solidFill>
                <a:latin typeface="Cambria"/>
                <a:ea typeface="Cambria"/>
              </a:rPr>
              <a:t>Automated Climate Zone for Weather Adaptation and Fungal Risk Prediction</a:t>
            </a:r>
            <a:endParaRPr lang="en-US" b="1">
              <a:latin typeface="Cambria"/>
              <a:ea typeface="Cambria"/>
            </a:endParaRPr>
          </a:p>
        </p:txBody>
      </p:sp>
      <p:pic>
        <p:nvPicPr>
          <p:cNvPr id="5" name="Picture 4" descr="A person wearing glasses and a white blouse&#10;&#10;AI-generated content may be incorrect.">
            <a:extLst>
              <a:ext uri="{FF2B5EF4-FFF2-40B4-BE49-F238E27FC236}">
                <a16:creationId xmlns:a16="http://schemas.microsoft.com/office/drawing/2014/main" id="{6F1043BF-AF1E-13F0-8DE0-9E934D662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/>
                    </a14:imgEffect>
                    <a14:imgEffect>
                      <a14:brightnessContrast contrast="6000"/>
                    </a14:imgEffect>
                  </a14:imgLayer>
                </a14:imgProps>
              </a:ext>
            </a:extLst>
          </a:blip>
          <a:srcRect l="-469" t="-1220" r="469" b="1219"/>
          <a:stretch>
            <a:fillRect/>
          </a:stretch>
        </p:blipFill>
        <p:spPr>
          <a:xfrm>
            <a:off x="10139909" y="134076"/>
            <a:ext cx="1963436" cy="231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178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46F59-A00E-950A-9C48-E8052ED32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C320B9-DF77-3A9C-EDB1-366EF6E8FA34}"/>
              </a:ext>
            </a:extLst>
          </p:cNvPr>
          <p:cNvSpPr/>
          <p:nvPr/>
        </p:nvSpPr>
        <p:spPr>
          <a:xfrm>
            <a:off x="3607795" y="667575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IT22617996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>
                <a:solidFill>
                  <a:schemeClr val="tx1"/>
                </a:solidFill>
              </a:rPr>
              <a:t>K.S.T.S.A KARIYAWASAM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25-26J-035</a:t>
            </a:r>
          </a:p>
          <a:p>
            <a:endParaRPr lang="en-US" sz="1800" b="0">
              <a:solidFill>
                <a:schemeClr val="tx1"/>
              </a:solidFill>
              <a:ea typeface="Cambri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E53CC7-3701-606B-5D6D-EB791F1F6B64}"/>
              </a:ext>
            </a:extLst>
          </p:cNvPr>
          <p:cNvSpPr txBox="1"/>
          <p:nvPr/>
        </p:nvSpPr>
        <p:spPr>
          <a:xfrm>
            <a:off x="1046104" y="302918"/>
            <a:ext cx="110875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0070C0"/>
                </a:solidFill>
              </a:rPr>
              <a:t>Automated Climate Zone for Weather Adaptation and Fungal Risk Prediction</a:t>
            </a:r>
            <a:r>
              <a:rPr lang="en-US" sz="2400">
                <a:ea typeface="Cambria"/>
              </a:rPr>
              <a:t>​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0E4C0-5208-5E1C-7CF4-AFD5C823476B}"/>
              </a:ext>
            </a:extLst>
          </p:cNvPr>
          <p:cNvSpPr txBox="1"/>
          <p:nvPr/>
        </p:nvSpPr>
        <p:spPr>
          <a:xfrm>
            <a:off x="774700" y="125730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8F495B-9F0B-AA37-9AF2-D40008C6434F}"/>
              </a:ext>
            </a:extLst>
          </p:cNvPr>
          <p:cNvSpPr txBox="1"/>
          <p:nvPr/>
        </p:nvSpPr>
        <p:spPr>
          <a:xfrm>
            <a:off x="540342" y="1256756"/>
            <a:ext cx="6472969" cy="1852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>
              <a:lnSpc>
                <a:spcPct val="150000"/>
              </a:lnSpc>
            </a:pPr>
            <a:r>
              <a:rPr lang="en-US" sz="1600" b="1" kern="1200">
                <a:latin typeface="Cambria"/>
                <a:ea typeface="+mn-ea"/>
                <a:cs typeface="+mn-cs"/>
              </a:rPr>
              <a:t>How the Solution Helps</a:t>
            </a:r>
            <a:endParaRPr lang="en-US" sz="1600">
              <a:ea typeface="Cambria"/>
            </a:endParaRPr>
          </a:p>
          <a:p>
            <a:pPr marL="283210" indent="-283210" algn="l" rtl="0">
              <a:lnSpc>
                <a:spcPct val="150000"/>
              </a:lnSpc>
              <a:buFont typeface="Arial"/>
              <a:buChar char="•"/>
            </a:pPr>
            <a:r>
              <a:rPr lang="en-US" sz="1600" kern="1200">
                <a:latin typeface="Cambria"/>
                <a:ea typeface="+mn-ea"/>
                <a:cs typeface="+mn-cs"/>
              </a:rPr>
              <a:t>Monitors temperature and humidity in the hydroponic zone.</a:t>
            </a:r>
            <a:endParaRPr lang="en-US" sz="1600" kern="1200">
              <a:latin typeface="Cambria"/>
              <a:ea typeface="Cambria"/>
            </a:endParaRPr>
          </a:p>
          <a:p>
            <a:pPr marL="283210" indent="-283210" algn="l" rtl="0">
              <a:lnSpc>
                <a:spcPct val="150000"/>
              </a:lnSpc>
              <a:buFont typeface="Arial"/>
              <a:buChar char="•"/>
            </a:pPr>
            <a:r>
              <a:rPr lang="en-US" sz="1600" kern="1200">
                <a:latin typeface="Cambria"/>
                <a:ea typeface="+mn-ea"/>
                <a:cs typeface="+mn-cs"/>
              </a:rPr>
              <a:t>Fans and misting system can be switched ON/OFF to protect plants.</a:t>
            </a:r>
            <a:endParaRPr lang="en-US" sz="1600" kern="1200">
              <a:latin typeface="Cambria"/>
              <a:ea typeface="Cambria"/>
            </a:endParaRPr>
          </a:p>
          <a:p>
            <a:pPr marL="283210" indent="-283210" algn="l" rtl="0">
              <a:lnSpc>
                <a:spcPct val="150000"/>
              </a:lnSpc>
              <a:buFont typeface="Arial"/>
              <a:buChar char="•"/>
            </a:pPr>
            <a:r>
              <a:rPr lang="en-US" sz="1600" kern="1200">
                <a:latin typeface="Cambria"/>
                <a:ea typeface="+mn-ea"/>
                <a:cs typeface="+mn-cs"/>
              </a:rPr>
              <a:t>Detects leaf diseases using a mobile app and pre-trained ML model</a:t>
            </a:r>
            <a:endParaRPr lang="en-US" sz="1600" kern="1200">
              <a:latin typeface="Cambria"/>
              <a:ea typeface="Cambria"/>
            </a:endParaRPr>
          </a:p>
          <a:p>
            <a:pPr algn="ctr">
              <a:lnSpc>
                <a:spcPct val="150000"/>
              </a:lnSpc>
            </a:pPr>
            <a:endParaRPr lang="en-US" sz="1400">
              <a:ea typeface="Cambr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A51D7B-6973-0BEA-669E-70070A5DD563}"/>
              </a:ext>
            </a:extLst>
          </p:cNvPr>
          <p:cNvSpPr txBox="1"/>
          <p:nvPr/>
        </p:nvSpPr>
        <p:spPr>
          <a:xfrm>
            <a:off x="545765" y="3583834"/>
            <a:ext cx="5087658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>
                <a:ea typeface="Cambria"/>
              </a:rPr>
              <a:t>User Requirements</a:t>
            </a:r>
            <a:endParaRPr lang="en-US" sz="1600"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Helping keep capsicum plants healthy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Providing real-time environmental monitoring</a:t>
            </a:r>
            <a:endParaRPr lang="en-US" sz="1600"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Allowing easy leaf disease detection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Supporting basic automation of fans and misting</a:t>
            </a:r>
          </a:p>
          <a:p>
            <a:endParaRPr lang="en-US" sz="1400">
              <a:latin typeface="Arial"/>
              <a:cs typeface="Arial"/>
            </a:endParaRPr>
          </a:p>
          <a:p>
            <a:pPr algn="l"/>
            <a:endParaRPr lang="en-US" sz="1400">
              <a:ea typeface="Cambr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37D3FE-6513-EC20-27EF-797ACC9AA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582" y="994013"/>
            <a:ext cx="1905118" cy="2293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021F43-AB32-9D3D-1829-2D64EEB63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985" y="996244"/>
            <a:ext cx="1760174" cy="2292397"/>
          </a:xfrm>
          <a:prstGeom prst="rect">
            <a:avLst/>
          </a:prstGeom>
        </p:spPr>
      </p:pic>
      <p:pic>
        <p:nvPicPr>
          <p:cNvPr id="8" name="Picture 7" descr="A close up of a bottle&#10;&#10;AI-generated content may be incorrect.">
            <a:extLst>
              <a:ext uri="{FF2B5EF4-FFF2-40B4-BE49-F238E27FC236}">
                <a16:creationId xmlns:a16="http://schemas.microsoft.com/office/drawing/2014/main" id="{F24A0F6B-2E0D-D0A3-859C-52A8DF761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4155" y="3837869"/>
            <a:ext cx="1595685" cy="2023298"/>
          </a:xfrm>
          <a:prstGeom prst="rect">
            <a:avLst/>
          </a:prstGeom>
        </p:spPr>
      </p:pic>
      <p:pic>
        <p:nvPicPr>
          <p:cNvPr id="12" name="Picture 11" descr="A black fan with wires on a wooden post&#10;&#10;AI-generated content may be incorrect.">
            <a:extLst>
              <a:ext uri="{FF2B5EF4-FFF2-40B4-BE49-F238E27FC236}">
                <a16:creationId xmlns:a16="http://schemas.microsoft.com/office/drawing/2014/main" id="{9AFCDCE7-7C57-2C7B-04E2-2BE7F0D9B7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111" t="7701" r="27111" b="6815"/>
          <a:stretch>
            <a:fillRect/>
          </a:stretch>
        </p:blipFill>
        <p:spPr>
          <a:xfrm>
            <a:off x="7813040" y="3840480"/>
            <a:ext cx="1595124" cy="2022028"/>
          </a:xfrm>
          <a:prstGeom prst="rect">
            <a:avLst/>
          </a:prstGeom>
        </p:spPr>
      </p:pic>
      <p:pic>
        <p:nvPicPr>
          <p:cNvPr id="14" name="Picture 13" descr="A blue circuit board with wires&#10;&#10;AI-generated content may be incorrect.">
            <a:extLst>
              <a:ext uri="{FF2B5EF4-FFF2-40B4-BE49-F238E27FC236}">
                <a16:creationId xmlns:a16="http://schemas.microsoft.com/office/drawing/2014/main" id="{2C915929-62E5-DE66-3A70-21C097A0F6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4010" y="3840480"/>
            <a:ext cx="1902460" cy="202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454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6B619-3ABF-921B-0586-C27E74670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441E62-CB00-CD75-EC96-66106A7EAA75}"/>
              </a:ext>
            </a:extLst>
          </p:cNvPr>
          <p:cNvSpPr/>
          <p:nvPr/>
        </p:nvSpPr>
        <p:spPr>
          <a:xfrm>
            <a:off x="3607795" y="667575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IT22617996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>
                <a:solidFill>
                  <a:schemeClr val="tx1"/>
                </a:solidFill>
              </a:rPr>
              <a:t>K.S.T.S.A KARIYAWASAM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25-26J-035</a:t>
            </a:r>
          </a:p>
          <a:p>
            <a:endParaRPr lang="en-US" sz="1800" b="0">
              <a:solidFill>
                <a:schemeClr val="tx1"/>
              </a:solidFill>
              <a:ea typeface="Cambri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53C051-307C-F138-9A39-162709EF0816}"/>
              </a:ext>
            </a:extLst>
          </p:cNvPr>
          <p:cNvSpPr txBox="1"/>
          <p:nvPr/>
        </p:nvSpPr>
        <p:spPr>
          <a:xfrm>
            <a:off x="603956" y="321734"/>
            <a:ext cx="109840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rgbClr val="0070C0"/>
                </a:solidFill>
                <a:latin typeface="Cambria"/>
                <a:ea typeface="Calibri"/>
                <a:cs typeface="Calibri"/>
              </a:rPr>
              <a:t>Automated Climate Zone for Weather Adaptation and Fungal Risk Prediction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8185D-528D-FE47-22C3-DD71B7B43169}"/>
              </a:ext>
            </a:extLst>
          </p:cNvPr>
          <p:cNvSpPr txBox="1"/>
          <p:nvPr/>
        </p:nvSpPr>
        <p:spPr>
          <a:xfrm>
            <a:off x="6516169" y="786533"/>
            <a:ext cx="5246982" cy="18933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>
                <a:ea typeface="Cambria"/>
              </a:rPr>
              <a:t>User Feedback</a:t>
            </a:r>
            <a:endParaRPr lang="en-US" sz="1600"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Fans/misting work as expected.</a:t>
            </a:r>
            <a:endParaRPr lang="en-US" sz="1600"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Mobile app disease detection is clear and simple.</a:t>
            </a:r>
            <a:endParaRPr lang="en-US" sz="1600"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Users want predictive alerts and automatic fan/mist logic in the future.</a:t>
            </a:r>
            <a:endParaRPr lang="en-US" sz="1600">
              <a:ea typeface="Cambri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2C9DB2-9FFC-D924-AA14-24559063BD0A}"/>
              </a:ext>
            </a:extLst>
          </p:cNvPr>
          <p:cNvSpPr txBox="1"/>
          <p:nvPr/>
        </p:nvSpPr>
        <p:spPr>
          <a:xfrm>
            <a:off x="266700" y="914400"/>
            <a:ext cx="4318000" cy="19304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A074A1-F14C-562B-1E53-2FDE1526A7C5}"/>
              </a:ext>
            </a:extLst>
          </p:cNvPr>
          <p:cNvSpPr txBox="1"/>
          <p:nvPr/>
        </p:nvSpPr>
        <p:spPr>
          <a:xfrm>
            <a:off x="269616" y="785457"/>
            <a:ext cx="6455160" cy="2222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>
                <a:ea typeface="Cambria"/>
              </a:rPr>
              <a:t>Design excellence &amp; Contribution</a:t>
            </a:r>
            <a:endParaRPr lang="en-US" sz="1600"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Cambria"/>
              </a:rPr>
              <a:t>Combines sensors (ESP32 + DHT22) and ML (</a:t>
            </a:r>
            <a:r>
              <a:rPr lang="en-US" sz="1600" err="1">
                <a:ea typeface="Cambria"/>
              </a:rPr>
              <a:t>MobileNet</a:t>
            </a:r>
            <a:r>
              <a:rPr lang="en-US" sz="1600">
                <a:ea typeface="Cambria"/>
              </a:rPr>
              <a:t>) for smart monitoring.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Cambria"/>
              </a:rPr>
              <a:t>Modular design allows adding fan logic, leaf wetness, and alerts later.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>
                <a:ea typeface="Cambria"/>
              </a:rPr>
              <a:t>Helps prevent diseases instead of just reacting after they appear.</a:t>
            </a:r>
          </a:p>
          <a:p>
            <a:pPr>
              <a:lnSpc>
                <a:spcPct val="150000"/>
              </a:lnSpc>
            </a:pPr>
            <a:endParaRPr lang="en-US" sz="1400" b="1">
              <a:ea typeface="Cambria"/>
            </a:endParaRPr>
          </a:p>
        </p:txBody>
      </p:sp>
      <p:pic>
        <p:nvPicPr>
          <p:cNvPr id="15" name="Picture 14" descr="A screenshot of a upload image&#10;&#10;AI-generated content may be incorrect.">
            <a:extLst>
              <a:ext uri="{FF2B5EF4-FFF2-40B4-BE49-F238E27FC236}">
                <a16:creationId xmlns:a16="http://schemas.microsoft.com/office/drawing/2014/main" id="{6B1DE1A9-B03F-FB7F-66C2-85671938F5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70" r="2705" b="9753"/>
          <a:stretch>
            <a:fillRect/>
          </a:stretch>
        </p:blipFill>
        <p:spPr>
          <a:xfrm>
            <a:off x="863231" y="2800317"/>
            <a:ext cx="2471906" cy="3683396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</p:pic>
      <p:pic>
        <p:nvPicPr>
          <p:cNvPr id="16" name="Picture 15" descr="A screenshot of a phone screen&#10;&#10;AI-generated content may be incorrect.">
            <a:extLst>
              <a:ext uri="{FF2B5EF4-FFF2-40B4-BE49-F238E27FC236}">
                <a16:creationId xmlns:a16="http://schemas.microsoft.com/office/drawing/2014/main" id="{446B6B77-2DA7-EEA8-FD6B-7007818B9C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73" r="-63" b="10302"/>
          <a:stretch>
            <a:fillRect/>
          </a:stretch>
        </p:blipFill>
        <p:spPr>
          <a:xfrm>
            <a:off x="4821666" y="2806896"/>
            <a:ext cx="2479531" cy="368665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7" name="Picture 16" descr="A screenshot of a phone&#10;&#10;AI-generated content may be incorrect.">
            <a:extLst>
              <a:ext uri="{FF2B5EF4-FFF2-40B4-BE49-F238E27FC236}">
                <a16:creationId xmlns:a16="http://schemas.microsoft.com/office/drawing/2014/main" id="{E306E6CC-74C2-DB17-CCBF-75BBE61F46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96" r="-305" b="24176"/>
          <a:stretch>
            <a:fillRect/>
          </a:stretch>
        </p:blipFill>
        <p:spPr>
          <a:xfrm>
            <a:off x="8786821" y="2797183"/>
            <a:ext cx="2446398" cy="368811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91E3E27-5ABD-4D6D-B14E-8B0BC44981A3}"/>
              </a:ext>
            </a:extLst>
          </p:cNvPr>
          <p:cNvCxnSpPr/>
          <p:nvPr/>
        </p:nvCxnSpPr>
        <p:spPr>
          <a:xfrm>
            <a:off x="3340100" y="4477657"/>
            <a:ext cx="1485900" cy="25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A0F7B7-5A07-1C65-E40D-7D4D4ECC1EFE}"/>
              </a:ext>
            </a:extLst>
          </p:cNvPr>
          <p:cNvCxnSpPr>
            <a:cxnSpLocks/>
          </p:cNvCxnSpPr>
          <p:nvPr/>
        </p:nvCxnSpPr>
        <p:spPr>
          <a:xfrm>
            <a:off x="7302500" y="4466771"/>
            <a:ext cx="1485900" cy="25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447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7B02-334B-AD39-4182-28860D7C3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76201"/>
            <a:ext cx="10363200" cy="1143000"/>
          </a:xfrm>
        </p:spPr>
        <p:txBody>
          <a:bodyPr>
            <a:noAutofit/>
          </a:bodyPr>
          <a:lstStyle/>
          <a:p>
            <a:r>
              <a:rPr lang="en-US" sz="3200" b="1">
                <a:solidFill>
                  <a:srgbClr val="00B050"/>
                </a:solidFill>
                <a:latin typeface="+mn-lt"/>
              </a:rPr>
              <a:t>Energy-Efficient Dual Hydroponic System for Organic/Inorganic Capsicum Chili Farming</a:t>
            </a:r>
            <a:endParaRPr lang="en-US" sz="3200" b="1">
              <a:solidFill>
                <a:srgbClr val="00B050"/>
              </a:solidFill>
              <a:latin typeface="+mn-lt"/>
              <a:ea typeface="Cambr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2736A-E2C1-997F-6907-0293F48F82DD}"/>
              </a:ext>
            </a:extLst>
          </p:cNvPr>
          <p:cNvSpPr txBox="1"/>
          <p:nvPr/>
        </p:nvSpPr>
        <p:spPr>
          <a:xfrm>
            <a:off x="544286" y="1360714"/>
            <a:ext cx="351064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Commercialization &amp; Sustainability</a:t>
            </a:r>
            <a:endParaRPr lang="en-US" sz="14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Smart Dual NFT hydroponic kit for urban and rural farmers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Scalable for research labs, schools, and greenhouses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Strong startup and B2B partnership potential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Energy-efficient design using IoT and solar support.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13156D-C959-B560-97BC-9A0B5145F2B2}"/>
              </a:ext>
            </a:extLst>
          </p:cNvPr>
          <p:cNvSpPr txBox="1"/>
          <p:nvPr/>
        </p:nvSpPr>
        <p:spPr>
          <a:xfrm>
            <a:off x="4201886" y="1360714"/>
            <a:ext cx="4158345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Customer Persona</a:t>
            </a:r>
            <a:endParaRPr lang="en-US" sz="1400" b="1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Smallholder farmers – Need low-cost automation to improve yield and reduce disease.</a:t>
            </a:r>
            <a:endParaRPr lang="en-US" sz="14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Urban home-growers – Want an easy, space-saving smart farming system.</a:t>
            </a:r>
            <a:endParaRPr lang="en-US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Educational &amp; research institutions – Use the system for learning and experiments.</a:t>
            </a:r>
            <a:endParaRPr lang="en-US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Commercial greenhouse operators – Require efficient climate control and disease prevention.</a:t>
            </a:r>
            <a:endParaRPr lang="en-US">
              <a:ea typeface="Cambria"/>
            </a:endParaRPr>
          </a:p>
          <a:p>
            <a:pPr marL="228600" indent="-228600">
              <a:buFont typeface="Arial"/>
              <a:buChar char="•"/>
            </a:pPr>
            <a:endParaRPr lang="en-US" sz="1400">
              <a:ea typeface="Cambria"/>
            </a:endParaRPr>
          </a:p>
          <a:p>
            <a:pPr algn="ctr"/>
            <a:endParaRPr lang="en-US" sz="1400">
              <a:ea typeface="Cambri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8887D-AD7C-2305-B79B-67CF531AB2F9}"/>
              </a:ext>
            </a:extLst>
          </p:cNvPr>
          <p:cNvSpPr txBox="1"/>
          <p:nvPr/>
        </p:nvSpPr>
        <p:spPr>
          <a:xfrm>
            <a:off x="8675914" y="1360714"/>
            <a:ext cx="351608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Market Size</a:t>
            </a:r>
            <a:endParaRPr lang="en-US" sz="14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Growing demand for:</a:t>
            </a:r>
            <a:endParaRPr lang="en-US" sz="1400">
              <a:ea typeface="Cambria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Smart agriculture solutions</a:t>
            </a:r>
            <a:endParaRPr lang="en-US" sz="1400">
              <a:ea typeface="Cambria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Urban farming systems</a:t>
            </a:r>
            <a:endParaRPr lang="en-US" sz="1400">
              <a:ea typeface="Cambria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Climate-resilient food production</a:t>
            </a:r>
            <a:endParaRPr lang="en-US" sz="14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High relevance in Sri Lanka and similar tropical countries</a:t>
            </a:r>
            <a:endParaRPr lang="en-US" sz="14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Potential to expand into South Asian and developing markets</a:t>
            </a:r>
            <a:endParaRPr lang="en-US" sz="1400">
              <a:ea typeface="Cambria"/>
            </a:endParaRPr>
          </a:p>
          <a:p>
            <a:endParaRPr lang="en-US" sz="1400" b="1">
              <a:ea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A72BA5-6E09-8B30-90E9-BDCA932C1F5B}"/>
              </a:ext>
            </a:extLst>
          </p:cNvPr>
          <p:cNvSpPr txBox="1"/>
          <p:nvPr/>
        </p:nvSpPr>
        <p:spPr>
          <a:xfrm>
            <a:off x="446314" y="3973285"/>
            <a:ext cx="4539345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What Is Unique in Our Solution</a:t>
            </a:r>
            <a:endParaRPr lang="en-US" sz="14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Dual organic and inorganic NFT farming in one integrated system</a:t>
            </a:r>
            <a:endParaRPr lang="en-US" sz="14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Energy-efficient IoT networking with solar support and GSM failover</a:t>
            </a:r>
            <a:endParaRPr lang="en-US" sz="14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Climate-aware control with predictive fungal disease prevention</a:t>
            </a:r>
            <a:endParaRPr lang="en-US" sz="14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Compost quality validation and nutrient recycling</a:t>
            </a:r>
            <a:endParaRPr lang="en-US" sz="1400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Integrated AI-based disease detection</a:t>
            </a:r>
            <a:endParaRPr lang="en-US" sz="1400">
              <a:ea typeface="Cambria"/>
            </a:endParaRPr>
          </a:p>
          <a:p>
            <a:endParaRPr lang="en-US" sz="1400" b="1">
              <a:ea typeface="Cambri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A90B47-3348-6B6F-F8EF-80E6C941932D}"/>
              </a:ext>
            </a:extLst>
          </p:cNvPr>
          <p:cNvSpPr txBox="1"/>
          <p:nvPr/>
        </p:nvSpPr>
        <p:spPr>
          <a:xfrm>
            <a:off x="8000999" y="4125685"/>
            <a:ext cx="4191002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Cost Recovery &amp; Business Model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Prototype cost: ~LKR 55,000 – 65,000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Estimated market price: ~LKR 80,000 – 90,000 per kit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Additional revenue through:</a:t>
            </a:r>
          </a:p>
          <a:p>
            <a:pPr marL="74295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Cloud dashboard subscriptions</a:t>
            </a:r>
          </a:p>
          <a:p>
            <a:pPr marL="74295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Advanced analytics &amp; alerts</a:t>
            </a:r>
          </a:p>
          <a:p>
            <a:pPr marL="74295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Institutional and B2B deployments</a:t>
            </a:r>
          </a:p>
          <a:p>
            <a:endParaRPr lang="en-US" sz="1400" b="1">
              <a:ea typeface="Cambr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1D77FC-A5DD-AB94-41F5-9A7AB7C4B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750" y="3513667"/>
            <a:ext cx="3016251" cy="300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240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EC4D0-4C7C-3267-3DCE-E4584B006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66287-9444-11C7-D19F-CBA500292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obe Devanagari"/>
              </a:rPr>
              <a:t>Thank </a:t>
            </a:r>
            <a:r>
              <a:rPr lang="en-US" err="1">
                <a:latin typeface="Adobe Devanagari"/>
              </a:rPr>
              <a:t>YOu</a:t>
            </a:r>
            <a:endParaRPr lang="en-US" err="1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B8D4BB5-C21C-1D2A-FDD7-CA584E808068}"/>
                  </a:ext>
                </a:extLst>
              </p14:cNvPr>
              <p14:cNvContentPartPr/>
              <p14:nvPr/>
            </p14:nvContentPartPr>
            <p14:xfrm>
              <a:off x="2763581" y="6630965"/>
              <a:ext cx="477397" cy="13047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B8D4BB5-C21C-1D2A-FDD7-CA584E8080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00624" y="4347740"/>
                <a:ext cx="602952" cy="45664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44B7DE1-C5A2-92F5-F76E-9F47E0DB5B80}"/>
                  </a:ext>
                </a:extLst>
              </p14:cNvPr>
              <p14:cNvContentPartPr/>
              <p14:nvPr/>
            </p14:nvContentPartPr>
            <p14:xfrm>
              <a:off x="2713973" y="6650949"/>
              <a:ext cx="5640641" cy="88534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44B7DE1-C5A2-92F5-F76E-9F47E0DB5B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50979" y="6588222"/>
                <a:ext cx="5766269" cy="2136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B3FD9FC-AF7A-01AF-CCB0-5ACF3F730699}"/>
                  </a:ext>
                </a:extLst>
              </p14:cNvPr>
              <p14:cNvContentPartPr/>
              <p14:nvPr/>
            </p14:nvContentPartPr>
            <p14:xfrm>
              <a:off x="6906848" y="6567889"/>
              <a:ext cx="2547396" cy="240983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B3FD9FC-AF7A-01AF-CCB0-5ACF3F73069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43865" y="6505039"/>
                <a:ext cx="2673002" cy="3663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F09A291-3110-9266-6EDC-4DE3D2BB18CD}"/>
                  </a:ext>
                </a:extLst>
              </p14:cNvPr>
              <p14:cNvContentPartPr/>
              <p14:nvPr/>
            </p14:nvContentPartPr>
            <p14:xfrm>
              <a:off x="2692169" y="6536581"/>
              <a:ext cx="5157476" cy="241152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F09A291-3110-9266-6EDC-4DE3D2BB18C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29172" y="6473687"/>
                <a:ext cx="5283110" cy="366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93EDCF0-2684-018B-BD00-231D9A4E86C5}"/>
                  </a:ext>
                </a:extLst>
              </p14:cNvPr>
              <p14:cNvContentPartPr/>
              <p14:nvPr/>
            </p14:nvContentPartPr>
            <p14:xfrm>
              <a:off x="2817172" y="6578319"/>
              <a:ext cx="5502442" cy="188736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93EDCF0-2684-018B-BD00-231D9A4E86C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54174" y="6515407"/>
                <a:ext cx="5628078" cy="31420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07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20DB7DB36DD49BC8150064CF95DD9" ma:contentTypeVersion="13" ma:contentTypeDescription="Create a new document." ma:contentTypeScope="" ma:versionID="c48e4f147fbfcc35a76b22813172a650">
  <xsd:schema xmlns:xsd="http://www.w3.org/2001/XMLSchema" xmlns:xs="http://www.w3.org/2001/XMLSchema" xmlns:p="http://schemas.microsoft.com/office/2006/metadata/properties" xmlns:ns2="b315195e-671e-423b-bef2-4f1205612242" xmlns:ns3="db72c12f-87a4-44ab-bbc5-4cc8306b158a" targetNamespace="http://schemas.microsoft.com/office/2006/metadata/properties" ma:root="true" ma:fieldsID="348c77cf9af5ee6cf2ae546677978010" ns2:_="" ns3:_="">
    <xsd:import namespace="b315195e-671e-423b-bef2-4f1205612242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195e-671e-423b-bef2-4f1205612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15195e-671e-423b-bef2-4f1205612242">
      <Terms xmlns="http://schemas.microsoft.com/office/infopath/2007/PartnerControls"/>
    </lcf76f155ced4ddcb4097134ff3c332f>
    <TaxCatchAll xmlns="db72c12f-87a4-44ab-bbc5-4cc8306b158a" xsi:nil="true"/>
  </documentManagement>
</p:properties>
</file>

<file path=customXml/itemProps1.xml><?xml version="1.0" encoding="utf-8"?>
<ds:datastoreItem xmlns:ds="http://schemas.openxmlformats.org/officeDocument/2006/customXml" ds:itemID="{675CA117-6409-42CF-8BE6-8CBDAC871B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8D9F30-5624-4EC8-BB89-B36A48A07F25}"/>
</file>

<file path=customXml/itemProps3.xml><?xml version="1.0" encoding="utf-8"?>
<ds:datastoreItem xmlns:ds="http://schemas.openxmlformats.org/officeDocument/2006/customXml" ds:itemID="{0DB5ABB8-ADB1-41A1-980D-AE3F37B2261D}">
  <ds:schemaRefs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42d1e402-c42d-419a-bd83-d8d365e28f11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Proposal-Presentation-Template</Template>
  <TotalTime>0</TotalTime>
  <Words>1207</Words>
  <Application>Microsoft Office PowerPoint</Application>
  <PresentationFormat>Widescreen</PresentationFormat>
  <Paragraphs>182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Adobe Devanagari</vt:lpstr>
      <vt:lpstr>Arial</vt:lpstr>
      <vt:lpstr>Arial,Sans-Serif</vt:lpstr>
      <vt:lpstr>Calibri</vt:lpstr>
      <vt:lpstr>Cambria</vt:lpstr>
      <vt:lpstr>fkGroteskNeue</vt:lpstr>
      <vt:lpstr>Segoe UI</vt:lpstr>
      <vt:lpstr>Times New Roman</vt:lpstr>
      <vt:lpstr>Wingdings</vt:lpstr>
      <vt:lpstr>Office Theme</vt:lpstr>
      <vt:lpstr>An Energy-Efficient Dual Hydroponic System for Organic/Inorganic Capsicum Chili Farming </vt:lpstr>
      <vt:lpstr>PROBLEM &amp; IMPACT</vt:lpstr>
      <vt:lpstr>PROBLEM &amp; IMPACT</vt:lpstr>
      <vt:lpstr>Target Group / Who Benefits</vt:lpstr>
      <vt:lpstr>Target Group / Who Benefits</vt:lpstr>
      <vt:lpstr>What Is New / Design Excellence of Overall Solution</vt:lpstr>
      <vt:lpstr>Our Approach</vt:lpstr>
      <vt:lpstr>INDIVIDUAL COMPONENTS</vt:lpstr>
      <vt:lpstr>IT22258762 | P.A.S.S. Weerasekara</vt:lpstr>
      <vt:lpstr>INORGANIC NFT HYDROPONIC SYSTEM FOR CAPSICUM CHILI</vt:lpstr>
      <vt:lpstr>INORGANIC NFT HYDROPONIC SYSTEM FOR CAPSICUM CHILI</vt:lpstr>
      <vt:lpstr>IT22355782 | D.S Galappaththi</vt:lpstr>
      <vt:lpstr>PowerPoint Presentation</vt:lpstr>
      <vt:lpstr>PowerPoint Presentation</vt:lpstr>
      <vt:lpstr>IT22167682 | D.M.I.P Dissanayaka</vt:lpstr>
      <vt:lpstr>ORGANIC NFT HYDROPONIC SYSTEM FOR CAPSICUM CHILI</vt:lpstr>
      <vt:lpstr>ORGANIC NFT HYDROPONIC SYSTEM FOR CAPSICUM CHILI</vt:lpstr>
      <vt:lpstr>IT22617996 | K.S.T.S.A KARIYAWASAM</vt:lpstr>
      <vt:lpstr>PowerPoint Presentation</vt:lpstr>
      <vt:lpstr>PowerPoint Presentation</vt:lpstr>
      <vt:lpstr>Energy-Efficient Dual Hydroponic System for Organic/Inorganic Capsicum Chili Farming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dulan sanjaya</dc:creator>
  <cp:lastModifiedBy>WEERASEKARA P.A.S.S it22258762</cp:lastModifiedBy>
  <cp:revision>2</cp:revision>
  <dcterms:created xsi:type="dcterms:W3CDTF">2025-09-09T05:47:45Z</dcterms:created>
  <dcterms:modified xsi:type="dcterms:W3CDTF">2026-01-11T09:19:30Z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0x0101008DC20DB7DB36DD49BC8150064CF95DD9</vt:lpwstr>
  </property>
</Properties>
</file>